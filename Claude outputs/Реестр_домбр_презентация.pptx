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889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Презентация описывает прототип цифрового реестра домбр: как создаётся паспорт инструмента, как защищаются записи и как на третьем этапе результаты фиксируются в публичном блокчейне. Справа показан общий принцип: события жизненного цикла связаны хэшами, а итоговое контрольное значение записывается во внешнюю сеть.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 решает три задачи: единый учёт инструментов, сохранение подтверждаемой истории и возможность независимой проверки. Архитектурно это три уровня: данные реестра, цепочка хэшей, защищающая записи от незаметного изменения, и публичный блокчейн как внешняя фиксация, не зависящая от оператора реестра.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слайде показан весь процесс. Мастерская регистрирует инструмент и получает регистрационный номер. Лаборатория проводит проверку и акустическое испытание, орган сертификации выдаёт сертификат. В период эксплуатации фиксируются ремонты и повторные проверки. Покупатель или эксперт проверяет паспорт по QR-коду. Все действия проходят через три уровня: данные реестра, цепочку хэшей и, на третьем этапе, публичный блокчейн.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Цифровой паспорт содержит шесть групп сведений: идентификация, изготовление, характеристики, сертификация, прикреплённые материалы и режим доступа. Справа приведён снимок работающего прототипа с демонстрационными данными. После регистрации поля паспорта закрываются для редактирования, а их значения входят в хэш события регистрации.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Жизненный цикл инструмента включает семь статусов. Основная последовательность: черновик, регистрация, передача на проверку, испытание, сертификация. Предусмотрены приостановка сертификата и направление на повторную проверку с возвратом в лабораторию. Каждое изменение статуса записывается отдельным событием. На снимке прототипа показана история инструмента, прошедшего путь до сертификата и ремонта.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Защита записей основана на хэш-функции SHA-256. Хэш можно сравнить с цифровым отпечатком: изменение одного байта даёт другой результат. Хэш каждого события включает хэш предыдущего, поэтому события образуют цепочку. В прототипе это видно на карточке события: хэш предыдущего события в записи номер четыре совпадает с хэшем события номер три.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Работа защиты проверена на прототипе. Описание события номер три было изменено напрямую в базе данных, минуя систему. При открытии страницы инструмента система сообщает о нарушении целостности и указывает номер события. Та же проверка выполняется из командной строки. Аналогично выявляются изменение файла и удаление события. Все сценарии закреплены автоматическими тестами.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Цепочка хэшей защищает от изменения отдельных записей, но у неё есть предел. Лицо с полным доступом к базе данных может изменить запись и пересчитать хэши всех последующих событий; внутренняя проверка в этом случае нарушений не покажет. Если корневой хэш заранее записан в публичный блокчейн, пересчитанная цепочка даст другое значение, и расхождение выявится при сверке. Это обоснование третьего этапа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фиксации в блокчейне. Первое: система собирает события всех инструментов за сутки. Второе: хэши событий объединяются попарно в дерево хэшей, называемое деревом Меркла, пока не останется одно значение, корневой хэш. Третье: корневой хэш вместе с номером пакета, датой и подписью реестра записывается транзакцией в публичную сеть. Четвёртое: идентификатор транзакции сохраняется в реестре. Значения на слайде приведены в качестве примера.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блокчейн передаются только контрольные значения: корневой хэш пакета, дата и время, номер пакета и цифровая подпись реестра. Фотографии, аудиозаписи, фамилии мастеров и владельцев, сертификаты и служебные сведения остаются в реестре. По хэшу невозможно восстановить исходные данные, поэтому конфиденциальность сохраняется. Одна транзакция в сутки не зависит от числа событий, что ограничивает расходы.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пользователя проверка состоит из трёх шагов: сканирование QR-кода, просмотр публичного паспорта и сверка с блокчейном. Справа приведён макет публичной страницы; раздел о фиксации в блокчейне появится на третьем этапе. Следует учитывать ограничение: QR-код подтверждает подлинность паспорта, но не самого предмета, поэтому в дальнейшем предусматривается защищённая маркировка инструмента.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Текущее состояние. Первый этап: прототип реестра работает на локальном компьютере, реализованы паспорт, документы с хэшами, жизненный цикл, цепочка событий и проверка целостности; далее предстоит публичный паспорт, QR-код и пилот на десяти инструментах. Второй этап: перенос на сервер, резервные копии, журнал действий, роли и двухфакторная авторизация. Третий этап: фиксация в блокчейне, сначала в тестовой, затем в основной сети.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FE5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FE5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417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СИСТЕМЫ ·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8288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Цифровой реестр домбр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474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паспорт инструмента, защита записей и фиксация в блокчейне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5074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от регистрации инструмента до проверки подлинности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18120" y="128016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124C5C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7" name="Text 5"/>
          <p:cNvSpPr txBox="1"/>
          <p:nvPr/>
        </p:nvSpPr>
        <p:spPr>
          <a:xfrm>
            <a:off x="8092440" y="1280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966960" y="149504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B3C49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9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31826a…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92640" y="2093976"/>
            <a:ext cx="0" cy="292608"/>
          </a:xfrm>
          <a:prstGeom prst="line">
            <a:avLst/>
          </a:prstGeom>
          <a:noFill/>
          <a:ln w="25400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0" name="Shape 8"/>
          <p:cNvSpPr/>
          <p:nvPr/>
        </p:nvSpPr>
        <p:spPr>
          <a:xfrm>
            <a:off x="7818120" y="242316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124C5C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11" name="Text 9"/>
          <p:cNvSpPr txBox="1"/>
          <p:nvPr/>
        </p:nvSpPr>
        <p:spPr>
          <a:xfrm>
            <a:off x="8092440" y="2423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Испытание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966960" y="263804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B3C49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9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513448…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92640" y="3236976"/>
            <a:ext cx="0" cy="292608"/>
          </a:xfrm>
          <a:prstGeom prst="line">
            <a:avLst/>
          </a:prstGeom>
          <a:noFill/>
          <a:ln w="25400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4" name="Shape 12"/>
          <p:cNvSpPr/>
          <p:nvPr/>
        </p:nvSpPr>
        <p:spPr>
          <a:xfrm>
            <a:off x="7818120" y="356616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124C5C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15" name="Text 13"/>
          <p:cNvSpPr txBox="1"/>
          <p:nvPr/>
        </p:nvSpPr>
        <p:spPr>
          <a:xfrm>
            <a:off x="8092440" y="3566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378104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B3C49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9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687fb2…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92640" y="4379976"/>
            <a:ext cx="0" cy="292608"/>
          </a:xfrm>
          <a:prstGeom prst="line">
            <a:avLst/>
          </a:prstGeom>
          <a:noFill/>
          <a:ln w="25400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8" name="Shape 16"/>
          <p:cNvSpPr/>
          <p:nvPr/>
        </p:nvSpPr>
        <p:spPr>
          <a:xfrm>
            <a:off x="7818120" y="470916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D99A1C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19" name="Text 17"/>
          <p:cNvSpPr txBox="1"/>
          <p:nvPr/>
        </p:nvSpPr>
        <p:spPr>
          <a:xfrm>
            <a:off x="8092440" y="4709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Блокчейн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966960" y="492404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корневой хэш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Назначение системы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объединяет учёт инструментов, подтверждаемую историю и независимую проверку подлинности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системы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658368" cy="658368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39112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8562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учёт инструментов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4028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Каждой домбре присваиваются регистрационный номер и цифровой паспорт с данными о мастере, материалах и характеристиках.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3355848"/>
            <a:ext cx="658368" cy="658368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5204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3375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Подтверждаемая история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721608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Проверки, испытания, сертификация и ремонты фиксируются последовательными событиями, которые не подлежат изменению после записи.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94360" y="4837176"/>
            <a:ext cx="658368" cy="658368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00176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481888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подлинности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5202936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Покупатель, эксперт или контролирующий орган проверяет паспорт и сертификат по QR-коду без обращения к оператору реестра.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086600" y="1783080"/>
            <a:ext cx="4507992" cy="4343400"/>
          </a:xfrm>
          <a:prstGeom prst="roundRect">
            <a:avLst>
              <a:gd name="adj" fmla="val 1684"/>
            </a:avLst>
          </a:prstGeom>
          <a:solidFill>
            <a:srgbClr val="F5F9FA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19" name="Text 14"/>
          <p:cNvSpPr txBox="1"/>
          <p:nvPr/>
        </p:nvSpPr>
        <p:spPr>
          <a:xfrm>
            <a:off x="7406640" y="196596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уровня системы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406640" y="2514600"/>
            <a:ext cx="386791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7DB"/>
            </a:solidFill>
            <a:prstDash val="solid"/>
          </a:ln>
          <a:effectLst>
            <a:outerShdw blurRad="101600" dist="25400" dir="5400000" algn="bl" rotWithShape="0">
              <a:srgbClr val="0B3C49">
                <a:alpha val="12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21" name="Shape 16"/>
          <p:cNvSpPr/>
          <p:nvPr/>
        </p:nvSpPr>
        <p:spPr>
          <a:xfrm>
            <a:off x="7589520" y="2697480"/>
            <a:ext cx="548640" cy="548640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28346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321040" y="264261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реестра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297180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паспорт, документы, статусы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340596" y="3456432"/>
            <a:ext cx="0" cy="219456"/>
          </a:xfrm>
          <a:prstGeom prst="line">
            <a:avLst/>
          </a:prstGeom>
          <a:noFill/>
          <a:ln w="25400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26" name="Shape 20"/>
          <p:cNvSpPr/>
          <p:nvPr/>
        </p:nvSpPr>
        <p:spPr>
          <a:xfrm>
            <a:off x="7406640" y="3703320"/>
            <a:ext cx="386791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7DB"/>
            </a:solidFill>
            <a:prstDash val="solid"/>
          </a:ln>
          <a:effectLst>
            <a:outerShdw blurRad="101600" dist="25400" dir="5400000" algn="bl" rotWithShape="0">
              <a:srgbClr val="0B3C49">
                <a:alpha val="12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27" name="Shape 21"/>
          <p:cNvSpPr/>
          <p:nvPr/>
        </p:nvSpPr>
        <p:spPr>
          <a:xfrm>
            <a:off x="7589520" y="3886200"/>
            <a:ext cx="548640" cy="548640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402336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321040" y="383133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хэшей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321040" y="416052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записей от незаметного изменения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9340596" y="4645152"/>
            <a:ext cx="0" cy="219456"/>
          </a:xfrm>
          <a:prstGeom prst="line">
            <a:avLst/>
          </a:prstGeom>
          <a:noFill/>
          <a:ln w="25400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32" name="Shape 25"/>
          <p:cNvSpPr/>
          <p:nvPr/>
        </p:nvSpPr>
        <p:spPr>
          <a:xfrm>
            <a:off x="7406640" y="4892040"/>
            <a:ext cx="3867912" cy="914400"/>
          </a:xfrm>
          <a:prstGeom prst="roundRect">
            <a:avLst>
              <a:gd name="adj" fmla="val 8000"/>
            </a:avLst>
          </a:prstGeom>
          <a:solidFill>
            <a:srgbClr val="FBF1DA"/>
          </a:solidFill>
          <a:ln w="9525">
            <a:solidFill>
              <a:srgbClr val="D99A1C"/>
            </a:solidFill>
            <a:prstDash val="solid"/>
          </a:ln>
          <a:effectLst>
            <a:outerShdw blurRad="101600" dist="25400" dir="5400000" algn="bl" rotWithShape="0">
              <a:srgbClr val="0B3C49">
                <a:alpha val="12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33" name="Shape 26"/>
          <p:cNvSpPr/>
          <p:nvPr/>
        </p:nvSpPr>
        <p:spPr>
          <a:xfrm>
            <a:off x="7589520" y="5074920"/>
            <a:ext cx="548640" cy="548640"/>
          </a:xfrm>
          <a:prstGeom prst="ellipse">
            <a:avLst/>
          </a:prstGeom>
          <a:solidFill>
            <a:srgbClr val="D99A1C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521208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321040" y="502005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блокчейн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8321040" y="534924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внешняя фиксация, не зависящая от оператора</a:t>
            </a:r>
            <a:endParaRPr lang="en-US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Процесс в целом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участник выполняет своё действие; все действия образуют единую историю инструмента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системы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МАСТЕРСКАЯ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530352" cy="530352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2418588"/>
            <a:ext cx="265176" cy="26517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9260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3814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Паспорт, фотографии, аудиозапись; присвоение номера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60320" y="2551176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3" name="Shape 10"/>
          <p:cNvSpPr/>
          <p:nvPr/>
        </p:nvSpPr>
        <p:spPr>
          <a:xfrm>
            <a:off x="1554480" y="4160520"/>
            <a:ext cx="0" cy="283464"/>
          </a:xfrm>
          <a:prstGeom prst="line">
            <a:avLst/>
          </a:prstGeom>
          <a:noFill/>
          <a:ln w="19050">
            <a:solidFill>
              <a:srgbClr val="C9D7DB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4" name="Text 11"/>
          <p:cNvSpPr txBox="1"/>
          <p:nvPr/>
        </p:nvSpPr>
        <p:spPr>
          <a:xfrm>
            <a:off x="2864358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ЛАБОРАТОРИЯ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864358" y="21031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6" name="Shape 13"/>
          <p:cNvSpPr/>
          <p:nvPr/>
        </p:nvSpPr>
        <p:spPr>
          <a:xfrm>
            <a:off x="3047238" y="2286000"/>
            <a:ext cx="530352" cy="530352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9826" y="2418588"/>
            <a:ext cx="265176" cy="26517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047238" y="29260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и испытание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3047238" y="343814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Осмотр, акустическое испытание, протокол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830318" y="2551176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21" name="Shape 17"/>
          <p:cNvSpPr/>
          <p:nvPr/>
        </p:nvSpPr>
        <p:spPr>
          <a:xfrm>
            <a:off x="3824478" y="4160520"/>
            <a:ext cx="0" cy="283464"/>
          </a:xfrm>
          <a:prstGeom prst="line">
            <a:avLst/>
          </a:prstGeom>
          <a:noFill/>
          <a:ln w="19050">
            <a:solidFill>
              <a:srgbClr val="C9D7DB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22" name="Text 18"/>
          <p:cNvSpPr txBox="1"/>
          <p:nvPr/>
        </p:nvSpPr>
        <p:spPr>
          <a:xfrm>
            <a:off x="5134356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 СЕРТИФИКАЦИИ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134356" y="21031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4" name="Shape 20"/>
          <p:cNvSpPr/>
          <p:nvPr/>
        </p:nvSpPr>
        <p:spPr>
          <a:xfrm>
            <a:off x="5317236" y="2286000"/>
            <a:ext cx="530352" cy="530352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824" y="2418588"/>
            <a:ext cx="265176" cy="26517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317236" y="29260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5317236" y="343814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Номер, дата и файл сертификата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100316" y="2551176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29" name="Shape 24"/>
          <p:cNvSpPr/>
          <p:nvPr/>
        </p:nvSpPr>
        <p:spPr>
          <a:xfrm>
            <a:off x="6094476" y="4160520"/>
            <a:ext cx="0" cy="283464"/>
          </a:xfrm>
          <a:prstGeom prst="line">
            <a:avLst/>
          </a:prstGeom>
          <a:noFill/>
          <a:ln w="19050">
            <a:solidFill>
              <a:srgbClr val="C9D7DB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30" name="Text 25"/>
          <p:cNvSpPr txBox="1"/>
          <p:nvPr/>
        </p:nvSpPr>
        <p:spPr>
          <a:xfrm>
            <a:off x="7404354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ЭКСПЛУАТАЦИЯ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7404354" y="21031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2" name="Shape 27"/>
          <p:cNvSpPr/>
          <p:nvPr/>
        </p:nvSpPr>
        <p:spPr>
          <a:xfrm>
            <a:off x="7587234" y="2286000"/>
            <a:ext cx="530352" cy="530352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9822" y="2418588"/>
            <a:ext cx="265176" cy="26517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587234" y="29260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 и повторная проверка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7587234" y="343814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вмешательство фиксируется в истории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9370314" y="2551176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37" name="Shape 31"/>
          <p:cNvSpPr/>
          <p:nvPr/>
        </p:nvSpPr>
        <p:spPr>
          <a:xfrm>
            <a:off x="8364474" y="4160520"/>
            <a:ext cx="0" cy="283464"/>
          </a:xfrm>
          <a:prstGeom prst="line">
            <a:avLst/>
          </a:prstGeom>
          <a:noFill/>
          <a:ln w="19050">
            <a:solidFill>
              <a:srgbClr val="C9D7DB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38" name="Text 32"/>
          <p:cNvSpPr txBox="1"/>
          <p:nvPr/>
        </p:nvSpPr>
        <p:spPr>
          <a:xfrm>
            <a:off x="9674352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ПОКУПАТЕЛЬ, ЭКСПЕРТ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9674352" y="21031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0" name="Shape 34"/>
          <p:cNvSpPr/>
          <p:nvPr/>
        </p:nvSpPr>
        <p:spPr>
          <a:xfrm>
            <a:off x="9857232" y="2286000"/>
            <a:ext cx="530352" cy="530352"/>
          </a:xfrm>
          <a:prstGeom prst="ellipse">
            <a:avLst/>
          </a:prstGeom>
          <a:solidFill>
            <a:srgbClr val="D99A1C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9820" y="2418588"/>
            <a:ext cx="265176" cy="265176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9857232" y="29260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QR-коду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9857232" y="343814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паспорт и сверка с блокчейном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10634472" y="4160520"/>
            <a:ext cx="0" cy="283464"/>
          </a:xfrm>
          <a:prstGeom prst="line">
            <a:avLst/>
          </a:prstGeom>
          <a:noFill/>
          <a:ln w="19050">
            <a:solidFill>
              <a:srgbClr val="C9D7DB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45" name="Shape 38"/>
          <p:cNvSpPr/>
          <p:nvPr/>
        </p:nvSpPr>
        <p:spPr>
          <a:xfrm>
            <a:off x="594360" y="4480560"/>
            <a:ext cx="11002975" cy="457200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46" name="Text 39"/>
          <p:cNvSpPr txBox="1"/>
          <p:nvPr/>
        </p:nvSpPr>
        <p:spPr>
          <a:xfrm>
            <a:off x="82296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реестра</a:t>
            </a:r>
            <a:endParaRPr lang="en-US" sz="1300" dirty="0"/>
          </a:p>
        </p:txBody>
      </p:sp>
      <p:sp>
        <p:nvSpPr>
          <p:cNvPr id="47" name="Text 40"/>
          <p:cNvSpPr txBox="1"/>
          <p:nvPr/>
        </p:nvSpPr>
        <p:spPr>
          <a:xfrm>
            <a:off x="32004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· документы · статусы</a:t>
            </a:r>
            <a:endParaRPr lang="en-US" sz="1250" dirty="0"/>
          </a:p>
        </p:txBody>
      </p:sp>
      <p:sp>
        <p:nvSpPr>
          <p:cNvPr id="48" name="Shape 41"/>
          <p:cNvSpPr/>
          <p:nvPr/>
        </p:nvSpPr>
        <p:spPr>
          <a:xfrm>
            <a:off x="594360" y="5029200"/>
            <a:ext cx="11002975" cy="457200"/>
          </a:xfrm>
          <a:prstGeom prst="roundRect">
            <a:avLst>
              <a:gd name="adj" fmla="val 12000"/>
            </a:avLst>
          </a:prstGeom>
          <a:solidFill>
            <a:srgbClr val="CFE5EA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49" name="Text 42"/>
          <p:cNvSpPr txBox="1"/>
          <p:nvPr/>
        </p:nvSpPr>
        <p:spPr>
          <a:xfrm>
            <a:off x="822960" y="5029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хэшей</a:t>
            </a:r>
            <a:endParaRPr lang="en-US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3200400" y="5029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действие записывается событием с хэшем, связанным с предыдущим событием</a:t>
            </a:r>
            <a:endParaRPr lang="en-US" sz="1250" dirty="0"/>
          </a:p>
        </p:txBody>
      </p:sp>
      <p:sp>
        <p:nvSpPr>
          <p:cNvPr id="51" name="Shape 44"/>
          <p:cNvSpPr/>
          <p:nvPr/>
        </p:nvSpPr>
        <p:spPr>
          <a:xfrm>
            <a:off x="594360" y="5577840"/>
            <a:ext cx="11002975" cy="457200"/>
          </a:xfrm>
          <a:prstGeom prst="roundRect">
            <a:avLst>
              <a:gd name="adj" fmla="val 12000"/>
            </a:avLst>
          </a:prstGeom>
          <a:solidFill>
            <a:srgbClr val="FBF1DA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52" name="Text 45"/>
          <p:cNvSpPr txBox="1"/>
          <p:nvPr/>
        </p:nvSpPr>
        <p:spPr>
          <a:xfrm>
            <a:off x="822960" y="5577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блокчейн</a:t>
            </a:r>
            <a:endParaRPr lang="en-US" sz="1300" dirty="0"/>
          </a:p>
        </p:txBody>
      </p:sp>
      <p:sp>
        <p:nvSpPr>
          <p:cNvPr id="53" name="Text 46"/>
          <p:cNvSpPr txBox="1"/>
          <p:nvPr/>
        </p:nvSpPr>
        <p:spPr>
          <a:xfrm>
            <a:off x="3200400" y="55778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 сутки корневой хэш всех событий фиксируется во внешней сети</a:t>
            </a:r>
            <a:endParaRPr lang="en-US" sz="1250" dirty="0"/>
          </a:p>
        </p:txBody>
      </p:sp>
      <p:sp>
        <p:nvSpPr>
          <p:cNvPr id="54" name="Text 47"/>
          <p:cNvSpPr txBox="1"/>
          <p:nvPr/>
        </p:nvSpPr>
        <p:spPr>
          <a:xfrm>
            <a:off x="10545775" y="566013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D99A1C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</a:t>
            </a:r>
            <a:endParaRPr lang="en-US" sz="105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Цифровой паспорт инструмента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создаётся при регистрации; после неё его поля не изменяются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 в прототипе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3246120" cy="1344168"/>
          </a:xfrm>
          <a:prstGeom prst="roundRect">
            <a:avLst>
              <a:gd name="adj" fmla="val 544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7" name="Shape 5"/>
          <p:cNvSpPr/>
          <p:nvPr/>
        </p:nvSpPr>
        <p:spPr>
          <a:xfrm>
            <a:off x="777240" y="1947672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061972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9476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Идентификация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146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DOM-KZ-2026-000001, внутренний идентификатор, QR-код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023360" y="1783080"/>
            <a:ext cx="3246120" cy="1344168"/>
          </a:xfrm>
          <a:prstGeom prst="roundRect">
            <a:avLst>
              <a:gd name="adj" fmla="val 544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Shape 9"/>
          <p:cNvSpPr/>
          <p:nvPr/>
        </p:nvSpPr>
        <p:spPr>
          <a:xfrm>
            <a:off x="4206240" y="1947672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2061972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800600" y="19476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Изготовление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206240" y="25146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 мастера, производитель, год и место изготовления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94360" y="3310128"/>
            <a:ext cx="3246120" cy="1344168"/>
          </a:xfrm>
          <a:prstGeom prst="roundRect">
            <a:avLst>
              <a:gd name="adj" fmla="val 544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7" name="Shape 13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358902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7160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40416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Тип, материалы корпуса, грифа и деки, лады, длина, мензура, струны, строй, вес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023360" y="3310128"/>
            <a:ext cx="3246120" cy="1344168"/>
          </a:xfrm>
          <a:prstGeom prst="roundRect">
            <a:avLst>
              <a:gd name="adj" fmla="val 544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2" name="Shape 17"/>
          <p:cNvSpPr/>
          <p:nvPr/>
        </p:nvSpPr>
        <p:spPr>
          <a:xfrm>
            <a:off x="4206240" y="3474720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358902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80060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Сертификация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206240" y="40416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Статус, номер и дата сертификата, выдавший орган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94360" y="4837176"/>
            <a:ext cx="3246120" cy="1344168"/>
          </a:xfrm>
          <a:prstGeom prst="roundRect">
            <a:avLst>
              <a:gd name="adj" fmla="val 544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7" name="Shape 21"/>
          <p:cNvSpPr/>
          <p:nvPr/>
        </p:nvSpPr>
        <p:spPr>
          <a:xfrm>
            <a:off x="777240" y="5001768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" y="5116068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71600" y="5001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777240" y="556869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Фотографии, аудиозапись звучания, сертификат и протоколы с хэшами SHA-256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023360" y="4837176"/>
            <a:ext cx="3246120" cy="1344168"/>
          </a:xfrm>
          <a:prstGeom prst="roundRect">
            <a:avLst>
              <a:gd name="adj" fmla="val 544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2" name="Shape 25"/>
          <p:cNvSpPr/>
          <p:nvPr/>
        </p:nvSpPr>
        <p:spPr>
          <a:xfrm>
            <a:off x="4206240" y="5001768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0540" y="5116068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800600" y="5001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4206240" y="556869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или закрытый паспорт; персональные и служебные сведения не публикуются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7764661" y="1709928"/>
            <a:ext cx="3703252" cy="4370832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9D7DB"/>
            </a:solidFill>
            <a:prstDash val="solid"/>
          </a:ln>
          <a:effectLst>
            <a:outerShdw blurRad="101600" dist="25400" dir="5400000" algn="bl" rotWithShape="0">
              <a:srgbClr val="0B3C49">
                <a:alpha val="12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pic>
        <p:nvPicPr>
          <p:cNvPr id="37" name="Image 6" descr="/tmp/claude-0/-home-claude/dc9561c7-0182-531d-88fc-88392d577360/scratchpad/deck/img/passport_cr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7813" y="1783080"/>
            <a:ext cx="3556948" cy="422452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315200" y="6108192"/>
            <a:ext cx="42821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Прототип: страница инструмента (демонстрационные данные)</a:t>
            </a:r>
            <a:endParaRPr lang="en-US" sz="10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Жизненный цикл инструмента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изменение статуса записывается отдельным событием; события не редактируются и не удаляются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 в прототипе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5F9FA"/>
          </a:solidFill>
          <a:ln w="9525">
            <a:solidFill>
              <a:srgbClr val="C9D7D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0" y="1965960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8" name="Text 6"/>
          <p:cNvSpPr txBox="1"/>
          <p:nvPr/>
        </p:nvSpPr>
        <p:spPr>
          <a:xfrm>
            <a:off x="2864358" y="173736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 w="9525">
            <a:solidFill>
              <a:srgbClr val="C9D7D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Зарегистрирована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30318" y="1965960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0" name="Text 8"/>
          <p:cNvSpPr txBox="1"/>
          <p:nvPr/>
        </p:nvSpPr>
        <p:spPr>
          <a:xfrm>
            <a:off x="5134356" y="173736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 w="9525">
            <a:solidFill>
              <a:srgbClr val="C9D7D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Передана на проверку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00316" y="1965960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10"/>
          <p:cNvSpPr txBox="1"/>
          <p:nvPr/>
        </p:nvSpPr>
        <p:spPr>
          <a:xfrm>
            <a:off x="7404354" y="173736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 w="9525">
            <a:solidFill>
              <a:srgbClr val="C9D7D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Испытана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70314" y="1965960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4" name="Text 12"/>
          <p:cNvSpPr txBox="1"/>
          <p:nvPr/>
        </p:nvSpPr>
        <p:spPr>
          <a:xfrm>
            <a:off x="9674352" y="173736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E5F4EC"/>
          </a:solidFill>
          <a:ln w="9525">
            <a:solidFill>
              <a:srgbClr val="1E7B4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Сертифицирована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084314" y="251460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FBF1DA"/>
          </a:solidFill>
          <a:ln w="9525">
            <a:solidFill>
              <a:srgbClr val="D99A1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Требуется повторная проверка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74352" y="251460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 w="9525">
            <a:solidFill>
              <a:srgbClr val="B3261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 приостановлен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634472" y="2231136"/>
            <a:ext cx="0" cy="246888"/>
          </a:xfrm>
          <a:prstGeom prst="line">
            <a:avLst/>
          </a:prstGeom>
          <a:noFill/>
          <a:ln w="19050">
            <a:solidFill>
              <a:srgbClr val="B3261E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8" name="Shape 16"/>
          <p:cNvSpPr/>
          <p:nvPr/>
        </p:nvSpPr>
        <p:spPr>
          <a:xfrm>
            <a:off x="8364474" y="2231136"/>
            <a:ext cx="0" cy="246888"/>
          </a:xfrm>
          <a:prstGeom prst="line">
            <a:avLst/>
          </a:prstGeom>
          <a:noFill/>
          <a:ln w="19050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9" name="Shape 17"/>
          <p:cNvSpPr/>
          <p:nvPr/>
        </p:nvSpPr>
        <p:spPr>
          <a:xfrm flipH="1">
            <a:off x="9361170" y="2743200"/>
            <a:ext cx="276606" cy="0"/>
          </a:xfrm>
          <a:prstGeom prst="line">
            <a:avLst/>
          </a:prstGeom>
          <a:noFill/>
          <a:ln w="19050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20" name="Shape 18"/>
          <p:cNvSpPr/>
          <p:nvPr/>
        </p:nvSpPr>
        <p:spPr>
          <a:xfrm flipH="1">
            <a:off x="6094476" y="2743200"/>
            <a:ext cx="953262" cy="0"/>
          </a:xfrm>
          <a:prstGeom prst="line">
            <a:avLst/>
          </a:prstGeom>
          <a:noFill/>
          <a:ln w="19050">
            <a:solidFill>
              <a:srgbClr val="D99A1C"/>
            </a:solidFill>
            <a:prstDash val="solid"/>
            <a:tailEnd type="none"/>
          </a:ln>
        </p:spPr>
        <p:txBody>
          <a:bodyPr/>
          <a:lstStyle/>
          <a:p>
            <a:endParaRPr lang="en-KZ"/>
          </a:p>
        </p:txBody>
      </p:sp>
      <p:sp>
        <p:nvSpPr>
          <p:cNvPr id="21" name="Shape 19"/>
          <p:cNvSpPr/>
          <p:nvPr/>
        </p:nvSpPr>
        <p:spPr>
          <a:xfrm flipV="1">
            <a:off x="6094476" y="2231136"/>
            <a:ext cx="0" cy="512064"/>
          </a:xfrm>
          <a:prstGeom prst="line">
            <a:avLst/>
          </a:prstGeom>
          <a:noFill/>
          <a:ln w="19050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22" name="Text 20"/>
          <p:cNvSpPr txBox="1"/>
          <p:nvPr/>
        </p:nvSpPr>
        <p:spPr>
          <a:xfrm>
            <a:off x="3138678" y="2587752"/>
            <a:ext cx="28643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передача на проверку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9496" y="3145536"/>
            <a:ext cx="5747274" cy="3035808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9D7DB"/>
            </a:solidFill>
            <a:prstDash val="solid"/>
          </a:ln>
          <a:effectLst>
            <a:outerShdw blurRad="101600" dist="25400" dir="5400000" algn="bl" rotWithShape="0">
              <a:srgbClr val="0B3C49">
                <a:alpha val="12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pic>
        <p:nvPicPr>
          <p:cNvPr id="24" name="Image 0" descr="/tmp/claude-0/-home-claude/dc9561c7-0182-531d-88fc-88392d577360/scratchpad/deck/img/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0"/>
            <a:ext cx="5637546" cy="292608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94360" y="6199632"/>
            <a:ext cx="56375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Прототип: история событий инструмента (демонстрационные данные)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643386" y="3246120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686" y="3360420"/>
            <a:ext cx="228600" cy="2286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265178" y="3209544"/>
            <a:ext cx="433215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Действия выполняются в панели администратора; доступны только те, что допустимы для текущего статуса.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643386" y="4233672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686" y="4347972"/>
            <a:ext cx="228600" cy="22860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265178" y="4197096"/>
            <a:ext cx="433215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испытания и сертификата обязательны организация и подтверждающие сведения: описание, номер и дата.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6643386" y="5221224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686" y="5335524"/>
            <a:ext cx="228600" cy="22860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265178" y="5184648"/>
            <a:ext cx="433215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 и дополнительные документы фиксируются в истории без изменения статуса.</a:t>
            </a:r>
            <a:endParaRPr lang="en-US" sz="12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 записей: цепочка хэшей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— цифровой отпечаток: изменение одного байта в файле или записи даёт другой отпечаток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 в прототипе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3840480" cy="2057400"/>
          </a:xfrm>
          <a:prstGeom prst="roundRect">
            <a:avLst>
              <a:gd name="adj" fmla="val 3556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7" name="Shape 5"/>
          <p:cNvSpPr/>
          <p:nvPr/>
        </p:nvSpPr>
        <p:spPr>
          <a:xfrm>
            <a:off x="795528" y="1965960"/>
            <a:ext cx="502920" cy="502920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209169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35608" y="1965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отпечаток (SHA-256)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95528" y="2624328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файла и каждой записи вычисляется хэш — строка из 64 символов. Любой желающий может пересчитать его стандартными средствами.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95528" y="3410712"/>
            <a:ext cx="3438144" cy="292608"/>
          </a:xfrm>
          <a:prstGeom prst="roundRect">
            <a:avLst>
              <a:gd name="adj" fmla="val 18750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b1534633e015d801…ec38afa73d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4023360"/>
            <a:ext cx="3840480" cy="2057400"/>
          </a:xfrm>
          <a:prstGeom prst="roundRect">
            <a:avLst>
              <a:gd name="adj" fmla="val 3556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3" name="Shape 10"/>
          <p:cNvSpPr/>
          <p:nvPr/>
        </p:nvSpPr>
        <p:spPr>
          <a:xfrm>
            <a:off x="795528" y="4206240"/>
            <a:ext cx="502920" cy="502920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58" y="433197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35608" y="4206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событий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795528" y="4864608"/>
            <a:ext cx="3438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хэш события входят его данные, хэши документов и хэш предыдущего события. Изменение старой записи нарушает все последующие связи.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800600" y="1783080"/>
            <a:ext cx="1493444" cy="21031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12808F"/>
            </a:solidFill>
            <a:prstDash val="solid"/>
          </a:ln>
          <a:effectLst>
            <a:outerShdw blurRad="101600" dist="25400" dir="5400000" algn="bl" rotWithShape="0">
              <a:srgbClr val="0B3C49">
                <a:alpha val="12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18" name="Text 14"/>
          <p:cNvSpPr txBox="1"/>
          <p:nvPr/>
        </p:nvSpPr>
        <p:spPr>
          <a:xfrm>
            <a:off x="4910328" y="1874520"/>
            <a:ext cx="1273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910328" y="2112264"/>
            <a:ext cx="1273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910328" y="2624328"/>
            <a:ext cx="1273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предыдущего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4910328" y="2834640"/>
            <a:ext cx="1273988" cy="292608"/>
          </a:xfrm>
          <a:prstGeom prst="roundRect">
            <a:avLst>
              <a:gd name="adj" fmla="val 1875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000000…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910328" y="3227832"/>
            <a:ext cx="1273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события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4910328" y="3438144"/>
            <a:ext cx="1273988" cy="292608"/>
          </a:xfrm>
          <a:prstGeom prst="roundRect">
            <a:avLst>
              <a:gd name="adj" fmla="val 18750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31826a…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568364" y="1783080"/>
            <a:ext cx="1493444" cy="21031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12808F"/>
            </a:solidFill>
            <a:prstDash val="solid"/>
          </a:ln>
          <a:effectLst>
            <a:outerShdw blurRad="101600" dist="25400" dir="5400000" algn="bl" rotWithShape="0">
              <a:srgbClr val="0B3C49">
                <a:alpha val="12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25" name="Text 21"/>
          <p:cNvSpPr txBox="1"/>
          <p:nvPr/>
        </p:nvSpPr>
        <p:spPr>
          <a:xfrm>
            <a:off x="6678092" y="1874520"/>
            <a:ext cx="1273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2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678092" y="2112264"/>
            <a:ext cx="1273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на проверку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678092" y="2624328"/>
            <a:ext cx="1273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предыдущего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6678092" y="2834640"/>
            <a:ext cx="1273988" cy="292608"/>
          </a:xfrm>
          <a:prstGeom prst="roundRect">
            <a:avLst>
              <a:gd name="adj" fmla="val 1875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31826a…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6678092" y="3227832"/>
            <a:ext cx="1273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события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6678092" y="3438144"/>
            <a:ext cx="1273988" cy="292608"/>
          </a:xfrm>
          <a:prstGeom prst="roundRect">
            <a:avLst>
              <a:gd name="adj" fmla="val 18750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493c63…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8336128" y="1783080"/>
            <a:ext cx="1493444" cy="21031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12808F"/>
            </a:solidFill>
            <a:prstDash val="solid"/>
          </a:ln>
          <a:effectLst>
            <a:outerShdw blurRad="101600" dist="25400" dir="5400000" algn="bl" rotWithShape="0">
              <a:srgbClr val="0B3C49">
                <a:alpha val="12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32" name="Text 28"/>
          <p:cNvSpPr txBox="1"/>
          <p:nvPr/>
        </p:nvSpPr>
        <p:spPr>
          <a:xfrm>
            <a:off x="8445856" y="1874520"/>
            <a:ext cx="1273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3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8445856" y="2112264"/>
            <a:ext cx="1273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Испытание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445856" y="2624328"/>
            <a:ext cx="1273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предыдущего</a:t>
            </a:r>
            <a:endParaRPr 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8445856" y="2834640"/>
            <a:ext cx="1273988" cy="292608"/>
          </a:xfrm>
          <a:prstGeom prst="roundRect">
            <a:avLst>
              <a:gd name="adj" fmla="val 1875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493c63…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8445856" y="3227832"/>
            <a:ext cx="1273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события</a:t>
            </a:r>
            <a:endParaRPr lang="en-US" sz="950" dirty="0"/>
          </a:p>
        </p:txBody>
      </p:sp>
      <p:sp>
        <p:nvSpPr>
          <p:cNvPr id="37" name="Text 33"/>
          <p:cNvSpPr txBox="1"/>
          <p:nvPr/>
        </p:nvSpPr>
        <p:spPr>
          <a:xfrm>
            <a:off x="8445856" y="3438144"/>
            <a:ext cx="1273988" cy="292608"/>
          </a:xfrm>
          <a:prstGeom prst="roundRect">
            <a:avLst>
              <a:gd name="adj" fmla="val 18750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513448…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10103891" y="1783080"/>
            <a:ext cx="1493444" cy="21031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12808F"/>
            </a:solidFill>
            <a:prstDash val="solid"/>
          </a:ln>
          <a:effectLst>
            <a:outerShdw blurRad="101600" dist="25400" dir="5400000" algn="bl" rotWithShape="0">
              <a:srgbClr val="0B3C49">
                <a:alpha val="12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39" name="Text 35"/>
          <p:cNvSpPr txBox="1"/>
          <p:nvPr/>
        </p:nvSpPr>
        <p:spPr>
          <a:xfrm>
            <a:off x="10213619" y="1874520"/>
            <a:ext cx="1273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4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10213619" y="2112264"/>
            <a:ext cx="1273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10213619" y="2624328"/>
            <a:ext cx="1273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предыдущего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10213619" y="2834640"/>
            <a:ext cx="1273988" cy="292608"/>
          </a:xfrm>
          <a:prstGeom prst="roundRect">
            <a:avLst>
              <a:gd name="adj" fmla="val 1875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513448…</a:t>
            </a:r>
            <a:endParaRPr lang="en-US" sz="1050" dirty="0"/>
          </a:p>
        </p:txBody>
      </p:sp>
      <p:sp>
        <p:nvSpPr>
          <p:cNvPr id="43" name="Text 39"/>
          <p:cNvSpPr txBox="1"/>
          <p:nvPr/>
        </p:nvSpPr>
        <p:spPr>
          <a:xfrm>
            <a:off x="10213619" y="3227832"/>
            <a:ext cx="1273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события</a:t>
            </a:r>
            <a:endParaRPr lang="en-US" sz="950" dirty="0"/>
          </a:p>
        </p:txBody>
      </p:sp>
      <p:sp>
        <p:nvSpPr>
          <p:cNvPr id="44" name="Text 40"/>
          <p:cNvSpPr txBox="1"/>
          <p:nvPr/>
        </p:nvSpPr>
        <p:spPr>
          <a:xfrm>
            <a:off x="10213619" y="3438144"/>
            <a:ext cx="1273988" cy="292608"/>
          </a:xfrm>
          <a:prstGeom prst="roundRect">
            <a:avLst>
              <a:gd name="adj" fmla="val 18750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687fb2…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 flipV="1">
            <a:off x="6220892" y="2980944"/>
            <a:ext cx="438912" cy="603504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46" name="Shape 42"/>
          <p:cNvSpPr/>
          <p:nvPr/>
        </p:nvSpPr>
        <p:spPr>
          <a:xfrm flipV="1">
            <a:off x="7988656" y="2980944"/>
            <a:ext cx="438912" cy="603504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47" name="Shape 43"/>
          <p:cNvSpPr/>
          <p:nvPr/>
        </p:nvSpPr>
        <p:spPr>
          <a:xfrm flipV="1">
            <a:off x="9756419" y="2980944"/>
            <a:ext cx="438912" cy="603504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48" name="Text 44"/>
          <p:cNvSpPr txBox="1"/>
          <p:nvPr/>
        </p:nvSpPr>
        <p:spPr>
          <a:xfrm>
            <a:off x="4800600" y="3995928"/>
            <a:ext cx="6796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каждого события включает хэш предыдущего, поэтому записи образуют цепочку.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4754880" y="4480560"/>
            <a:ext cx="4069080" cy="1559610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 w="9525">
            <a:solidFill>
              <a:srgbClr val="C9D7DB"/>
            </a:solidFill>
            <a:prstDash val="solid"/>
          </a:ln>
          <a:effectLst>
            <a:outerShdw blurRad="101600" dist="25400" dir="5400000" algn="bl" rotWithShape="0">
              <a:srgbClr val="0B3C49">
                <a:alpha val="12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pic>
        <p:nvPicPr>
          <p:cNvPr id="50" name="Image 2" descr="/tmp/claude-0/-home-claude/dc9561c7-0182-531d-88fc-88392d577360/scratchpad/deck/img/event_hashes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526280"/>
            <a:ext cx="3977640" cy="1468170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9052560" y="4526280"/>
            <a:ext cx="2544775" cy="146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Прототип: событие № 4.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предыдущего события совпадает с хэшем события № 3 (513448…).</a:t>
            </a:r>
            <a:endParaRPr lang="en-US" sz="12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Обнаружение подмены в прототипе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изменена напрямую в базе данных, в обход системы; проверка указывает номер затронутого события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 в прототипе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94415" cy="1858863"/>
          </a:xfrm>
          <a:prstGeom prst="roundRect">
            <a:avLst>
              <a:gd name="adj" fmla="val 1968"/>
            </a:avLst>
          </a:prstGeom>
          <a:solidFill>
            <a:srgbClr val="FFFFFF"/>
          </a:solidFill>
          <a:ln w="9525">
            <a:solidFill>
              <a:srgbClr val="C9D7DB"/>
            </a:solidFill>
            <a:prstDash val="solid"/>
          </a:ln>
          <a:effectLst>
            <a:outerShdw blurRad="101600" dist="25400" dir="5400000" algn="bl" rotWithShape="0">
              <a:srgbClr val="0B3C49">
                <a:alpha val="12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pic>
        <p:nvPicPr>
          <p:cNvPr id="7" name="Image 0" descr="/tmp/claude-0/-home-claude/dc9561c7-0182-531d-88fc-88392d577360/scratchpad/deck/img/panel_tamp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080"/>
            <a:ext cx="11002975" cy="17674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3870543"/>
            <a:ext cx="5943600" cy="2274225"/>
          </a:xfrm>
          <a:prstGeom prst="roundRect">
            <a:avLst>
              <a:gd name="adj" fmla="val 3217"/>
            </a:avLst>
          </a:prstGeom>
          <a:solidFill>
            <a:srgbClr val="10262E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9" name="Text 6"/>
          <p:cNvSpPr txBox="1"/>
          <p:nvPr/>
        </p:nvSpPr>
        <p:spPr>
          <a:xfrm>
            <a:off x="822960" y="4007703"/>
            <a:ext cx="5486400" cy="199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9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manage.py verify_registry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9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  DOM-KZ-2026-000001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Найдено нарушений: 1 (событий: 5, документов: 3)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Событие №3 «Испытание»: запись изменена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(хэш события не совпадает)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Проверено домбр: 1. С нарушениями: 1.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949440" y="3888831"/>
            <a:ext cx="457200" cy="457200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4003131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71232" y="3861399"/>
            <a:ext cx="4026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Изменена запись в базе данных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571232" y="4135719"/>
            <a:ext cx="4026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указывается номер события, хэш которого не совпадает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949440" y="4602063"/>
            <a:ext cx="457200" cy="457200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3740" y="4716363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571232" y="4574631"/>
            <a:ext cx="4026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Изменён или заменён файл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7571232" y="4848951"/>
            <a:ext cx="4026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пересчитанный SHA-256 отличается от записанного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949440" y="5315295"/>
            <a:ext cx="457200" cy="457200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0" y="5429595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571232" y="5287863"/>
            <a:ext cx="4026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Удалено событие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7571232" y="5562183"/>
            <a:ext cx="4026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нарушаются нумерация и связь соседних событий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6046815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закреплены автоматическими тестами прототипа (34 теста).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Предел внутренней защиты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Лицо с полным доступом к базе может пересчитать всю цепочку; внешняя фиксация делает такую подмену обнаружимой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Проектное решение · этап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1002975" cy="196596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5F7079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213741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база данных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791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изменена, хэши всех последующих событий пересчитаны.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520440" y="2350008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9"/>
          <p:cNvSpPr txBox="1"/>
          <p:nvPr/>
        </p:nvSpPr>
        <p:spPr>
          <a:xfrm>
            <a:off x="3520440" y="244144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77063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изменений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72584" y="2761488"/>
            <a:ext cx="201168" cy="0"/>
          </a:xfrm>
          <a:prstGeom prst="line">
            <a:avLst/>
          </a:prstGeom>
          <a:noFill/>
          <a:ln w="22225">
            <a:solidFill>
              <a:srgbClr val="12808F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5" name="Shape 12"/>
          <p:cNvSpPr/>
          <p:nvPr/>
        </p:nvSpPr>
        <p:spPr>
          <a:xfrm>
            <a:off x="4910328" y="2350008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FBE9E7"/>
          </a:solidFill>
          <a:ln w="15875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6" name="Text 13"/>
          <p:cNvSpPr txBox="1"/>
          <p:nvPr/>
        </p:nvSpPr>
        <p:spPr>
          <a:xfrm>
            <a:off x="4910328" y="244144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910328" y="277063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изменено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62472" y="2761488"/>
            <a:ext cx="201168" cy="0"/>
          </a:xfrm>
          <a:prstGeom prst="line">
            <a:avLst/>
          </a:prstGeom>
          <a:noFill/>
          <a:ln w="22225">
            <a:solidFill>
              <a:srgbClr val="12808F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9" name="Shape 16"/>
          <p:cNvSpPr/>
          <p:nvPr/>
        </p:nvSpPr>
        <p:spPr>
          <a:xfrm>
            <a:off x="6300216" y="2350008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D99A1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0" name="Text 17"/>
          <p:cNvSpPr txBox="1"/>
          <p:nvPr/>
        </p:nvSpPr>
        <p:spPr>
          <a:xfrm>
            <a:off x="6300216" y="244144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300216" y="277063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пересчитано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452360" y="2761488"/>
            <a:ext cx="201168" cy="0"/>
          </a:xfrm>
          <a:prstGeom prst="line">
            <a:avLst/>
          </a:prstGeom>
          <a:noFill/>
          <a:ln w="22225">
            <a:solidFill>
              <a:srgbClr val="12808F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23" name="Shape 20"/>
          <p:cNvSpPr/>
          <p:nvPr/>
        </p:nvSpPr>
        <p:spPr>
          <a:xfrm>
            <a:off x="7690104" y="2350008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D99A1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4" name="Text 21"/>
          <p:cNvSpPr txBox="1"/>
          <p:nvPr/>
        </p:nvSpPr>
        <p:spPr>
          <a:xfrm>
            <a:off x="7690104" y="244144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690104" y="277063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пересчитано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9217152" y="2057400"/>
            <a:ext cx="21515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внутренняя проверка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217152" y="2295144"/>
            <a:ext cx="2151583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9D7DB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нарушений нет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9217152" y="2880360"/>
            <a:ext cx="21515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Подмена не обнаруживается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94360" y="3931920"/>
            <a:ext cx="11002975" cy="1965960"/>
          </a:xfrm>
          <a:prstGeom prst="roundRect">
            <a:avLst>
              <a:gd name="adj" fmla="val 3721"/>
            </a:avLst>
          </a:prstGeom>
          <a:solidFill>
            <a:srgbClr val="FBF1DA"/>
          </a:solidFill>
          <a:ln w="9525">
            <a:solidFill>
              <a:srgbClr val="D99A1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0" name="Shape 27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D99A1C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286250"/>
            <a:ext cx="251460" cy="25146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46304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и блокчейн</a:t>
            </a:r>
            <a:endParaRPr lang="en-US" sz="1450" dirty="0"/>
          </a:p>
        </p:txBody>
      </p:sp>
      <p:sp>
        <p:nvSpPr>
          <p:cNvPr id="33" name="Text 29"/>
          <p:cNvSpPr txBox="1"/>
          <p:nvPr/>
        </p:nvSpPr>
        <p:spPr>
          <a:xfrm>
            <a:off x="822960" y="48280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же действия, но корневой хэш ранее записан во внешнюю сеть.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3520440" y="4498848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5" name="Text 31"/>
          <p:cNvSpPr txBox="1"/>
          <p:nvPr/>
        </p:nvSpPr>
        <p:spPr>
          <a:xfrm>
            <a:off x="3520440" y="459028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3520440" y="491947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изменений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4672584" y="4910328"/>
            <a:ext cx="201168" cy="0"/>
          </a:xfrm>
          <a:prstGeom prst="line">
            <a:avLst/>
          </a:prstGeom>
          <a:noFill/>
          <a:ln w="22225">
            <a:solidFill>
              <a:srgbClr val="12808F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38" name="Shape 34"/>
          <p:cNvSpPr/>
          <p:nvPr/>
        </p:nvSpPr>
        <p:spPr>
          <a:xfrm>
            <a:off x="4910328" y="4498848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FBE9E7"/>
          </a:solidFill>
          <a:ln w="15875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9" name="Text 35"/>
          <p:cNvSpPr txBox="1"/>
          <p:nvPr/>
        </p:nvSpPr>
        <p:spPr>
          <a:xfrm>
            <a:off x="4910328" y="459028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2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4910328" y="491947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изменено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6062472" y="4910328"/>
            <a:ext cx="201168" cy="0"/>
          </a:xfrm>
          <a:prstGeom prst="line">
            <a:avLst/>
          </a:prstGeom>
          <a:noFill/>
          <a:ln w="22225">
            <a:solidFill>
              <a:srgbClr val="12808F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42" name="Shape 38"/>
          <p:cNvSpPr/>
          <p:nvPr/>
        </p:nvSpPr>
        <p:spPr>
          <a:xfrm>
            <a:off x="6300216" y="4498848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D99A1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3" name="Text 39"/>
          <p:cNvSpPr txBox="1"/>
          <p:nvPr/>
        </p:nvSpPr>
        <p:spPr>
          <a:xfrm>
            <a:off x="6300216" y="459028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3</a:t>
            </a:r>
            <a:endParaRPr lang="en-US" sz="1300" dirty="0"/>
          </a:p>
        </p:txBody>
      </p:sp>
      <p:sp>
        <p:nvSpPr>
          <p:cNvPr id="44" name="Text 40"/>
          <p:cNvSpPr txBox="1"/>
          <p:nvPr/>
        </p:nvSpPr>
        <p:spPr>
          <a:xfrm>
            <a:off x="6300216" y="491947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пересчитано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7452360" y="4910328"/>
            <a:ext cx="201168" cy="0"/>
          </a:xfrm>
          <a:prstGeom prst="line">
            <a:avLst/>
          </a:prstGeom>
          <a:noFill/>
          <a:ln w="22225">
            <a:solidFill>
              <a:srgbClr val="12808F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46" name="Shape 42"/>
          <p:cNvSpPr/>
          <p:nvPr/>
        </p:nvSpPr>
        <p:spPr>
          <a:xfrm>
            <a:off x="7690104" y="4498848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D99A1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7" name="Text 43"/>
          <p:cNvSpPr txBox="1"/>
          <p:nvPr/>
        </p:nvSpPr>
        <p:spPr>
          <a:xfrm>
            <a:off x="7690104" y="459028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4</a:t>
            </a:r>
            <a:endParaRPr lang="en-US" sz="1300" dirty="0"/>
          </a:p>
        </p:txBody>
      </p:sp>
      <p:sp>
        <p:nvSpPr>
          <p:cNvPr id="48" name="Text 44"/>
          <p:cNvSpPr txBox="1"/>
          <p:nvPr/>
        </p:nvSpPr>
        <p:spPr>
          <a:xfrm>
            <a:off x="7690104" y="491947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пересчитано</a:t>
            </a:r>
            <a:endParaRPr lang="en-US" sz="1050" dirty="0"/>
          </a:p>
        </p:txBody>
      </p:sp>
      <p:sp>
        <p:nvSpPr>
          <p:cNvPr id="49" name="Text 45"/>
          <p:cNvSpPr txBox="1"/>
          <p:nvPr/>
        </p:nvSpPr>
        <p:spPr>
          <a:xfrm>
            <a:off x="9217152" y="4096512"/>
            <a:ext cx="21515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корневой хэш в блокчейне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9217152" y="4306824"/>
            <a:ext cx="2151583" cy="292608"/>
          </a:xfrm>
          <a:prstGeom prst="roundRect">
            <a:avLst>
              <a:gd name="adj" fmla="val 18750"/>
            </a:avLst>
          </a:prstGeom>
          <a:solidFill>
            <a:srgbClr val="D99A1C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8c1f4a…</a:t>
            </a:r>
            <a:endParaRPr lang="en-US" sz="1100" dirty="0"/>
          </a:p>
        </p:txBody>
      </p:sp>
      <p:sp>
        <p:nvSpPr>
          <p:cNvPr id="51" name="Text 47"/>
          <p:cNvSpPr txBox="1"/>
          <p:nvPr/>
        </p:nvSpPr>
        <p:spPr>
          <a:xfrm>
            <a:off x="9217152" y="4663440"/>
            <a:ext cx="21515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корневой хэш после подмены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9217152" y="4873752"/>
            <a:ext cx="2151583" cy="292608"/>
          </a:xfrm>
          <a:prstGeom prst="roundRect">
            <a:avLst>
              <a:gd name="adj" fmla="val 18750"/>
            </a:avLst>
          </a:prstGeom>
          <a:solidFill>
            <a:srgbClr val="FBE9E7"/>
          </a:solidFill>
          <a:ln w="9525">
            <a:solidFill>
              <a:srgbClr val="B3261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e27ab0…</a:t>
            </a:r>
            <a:endParaRPr lang="en-US" sz="1100" dirty="0"/>
          </a:p>
        </p:txBody>
      </p:sp>
      <p:sp>
        <p:nvSpPr>
          <p:cNvPr id="53" name="Text 49"/>
          <p:cNvSpPr txBox="1"/>
          <p:nvPr/>
        </p:nvSpPr>
        <p:spPr>
          <a:xfrm>
            <a:off x="9217152" y="5257800"/>
            <a:ext cx="21515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выявляется при сверке</a:t>
            </a:r>
            <a:endParaRPr lang="en-US" sz="1350" dirty="0"/>
          </a:p>
        </p:txBody>
      </p:sp>
      <p:sp>
        <p:nvSpPr>
          <p:cNvPr id="54" name="Text 50"/>
          <p:cNvSpPr txBox="1"/>
          <p:nvPr/>
        </p:nvSpPr>
        <p:spPr>
          <a:xfrm>
            <a:off x="594360" y="59893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 публичном блокчейне находится вне контроля оператора реестра и не может быть изменена после включения в блок.</a:t>
            </a:r>
            <a:endParaRPr lang="en-US" sz="12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Фиксация событий в блокчейне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 сутки все новые события сводятся к одному корневому хэшу, который записывается в публичную сеть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Проектное решение · этап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64792"/>
            <a:ext cx="329184" cy="329184"/>
          </a:xfrm>
          <a:prstGeom prst="ellipse">
            <a:avLst/>
          </a:prstGeom>
          <a:solidFill>
            <a:srgbClr val="D99A1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14984" y="176479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за сутки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2286000" cy="603504"/>
          </a:xfrm>
          <a:prstGeom prst="roundRect">
            <a:avLst>
              <a:gd name="adj" fmla="val 12121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9" name="Text 7"/>
          <p:cNvSpPr txBox="1"/>
          <p:nvPr/>
        </p:nvSpPr>
        <p:spPr>
          <a:xfrm>
            <a:off x="731520" y="23408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· DOM-…0004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96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31826a…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999232"/>
            <a:ext cx="2286000" cy="603504"/>
          </a:xfrm>
          <a:prstGeom prst="roundRect">
            <a:avLst>
              <a:gd name="adj" fmla="val 12121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10"/>
          <p:cNvSpPr txBox="1"/>
          <p:nvPr/>
        </p:nvSpPr>
        <p:spPr>
          <a:xfrm>
            <a:off x="731520" y="3054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Испытание · DOM-…0002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3101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493c63…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712464"/>
            <a:ext cx="2286000" cy="603504"/>
          </a:xfrm>
          <a:prstGeom prst="roundRect">
            <a:avLst>
              <a:gd name="adj" fmla="val 12121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5" name="Text 13"/>
          <p:cNvSpPr txBox="1"/>
          <p:nvPr/>
        </p:nvSpPr>
        <p:spPr>
          <a:xfrm>
            <a:off x="731520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 · DOM-…0001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023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513448…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4425696"/>
            <a:ext cx="2286000" cy="603504"/>
          </a:xfrm>
          <a:prstGeom prst="roundRect">
            <a:avLst>
              <a:gd name="adj" fmla="val 12121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8" name="Text 16"/>
          <p:cNvSpPr txBox="1"/>
          <p:nvPr/>
        </p:nvSpPr>
        <p:spPr>
          <a:xfrm>
            <a:off x="731520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 · DOM-…0003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7365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687fb2…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1764792"/>
            <a:ext cx="329184" cy="329184"/>
          </a:xfrm>
          <a:prstGeom prst="ellipse">
            <a:avLst/>
          </a:prstGeom>
          <a:solidFill>
            <a:srgbClr val="D99A1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66744" y="1764792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хэшей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 flipV="1">
            <a:off x="3584448" y="3941064"/>
            <a:ext cx="420624" cy="585216"/>
          </a:xfrm>
          <a:prstGeom prst="line">
            <a:avLst/>
          </a:prstGeom>
          <a:noFill/>
          <a:ln w="19050">
            <a:solidFill>
              <a:srgbClr val="12808F"/>
            </a:solidFill>
            <a:prstDash val="solid"/>
            <a:tailEnd type="none"/>
          </a:ln>
        </p:spPr>
        <p:txBody>
          <a:bodyPr/>
          <a:lstStyle/>
          <a:p>
            <a:endParaRPr lang="en-KZ"/>
          </a:p>
        </p:txBody>
      </p:sp>
      <p:sp>
        <p:nvSpPr>
          <p:cNvPr id="23" name="Shape 21"/>
          <p:cNvSpPr/>
          <p:nvPr/>
        </p:nvSpPr>
        <p:spPr>
          <a:xfrm flipH="1" flipV="1">
            <a:off x="4005072" y="3941064"/>
            <a:ext cx="420624" cy="585216"/>
          </a:xfrm>
          <a:prstGeom prst="line">
            <a:avLst/>
          </a:prstGeom>
          <a:noFill/>
          <a:ln w="19050">
            <a:solidFill>
              <a:srgbClr val="12808F"/>
            </a:solidFill>
            <a:prstDash val="solid"/>
            <a:tailEnd type="none"/>
          </a:ln>
        </p:spPr>
        <p:txBody>
          <a:bodyPr/>
          <a:lstStyle/>
          <a:p>
            <a:endParaRPr lang="en-KZ"/>
          </a:p>
        </p:txBody>
      </p:sp>
      <p:sp>
        <p:nvSpPr>
          <p:cNvPr id="24" name="Shape 22"/>
          <p:cNvSpPr/>
          <p:nvPr/>
        </p:nvSpPr>
        <p:spPr>
          <a:xfrm flipV="1">
            <a:off x="5266944" y="3941064"/>
            <a:ext cx="420624" cy="585216"/>
          </a:xfrm>
          <a:prstGeom prst="line">
            <a:avLst/>
          </a:prstGeom>
          <a:noFill/>
          <a:ln w="19050">
            <a:solidFill>
              <a:srgbClr val="12808F"/>
            </a:solidFill>
            <a:prstDash val="solid"/>
            <a:tailEnd type="none"/>
          </a:ln>
        </p:spPr>
        <p:txBody>
          <a:bodyPr/>
          <a:lstStyle/>
          <a:p>
            <a:endParaRPr lang="en-KZ"/>
          </a:p>
        </p:txBody>
      </p:sp>
      <p:sp>
        <p:nvSpPr>
          <p:cNvPr id="25" name="Shape 23"/>
          <p:cNvSpPr/>
          <p:nvPr/>
        </p:nvSpPr>
        <p:spPr>
          <a:xfrm flipH="1" flipV="1">
            <a:off x="5687568" y="3941064"/>
            <a:ext cx="420624" cy="585216"/>
          </a:xfrm>
          <a:prstGeom prst="line">
            <a:avLst/>
          </a:prstGeom>
          <a:noFill/>
          <a:ln w="19050">
            <a:solidFill>
              <a:srgbClr val="12808F"/>
            </a:solidFill>
            <a:prstDash val="solid"/>
            <a:tailEnd type="none"/>
          </a:ln>
        </p:spPr>
        <p:txBody>
          <a:bodyPr/>
          <a:lstStyle/>
          <a:p>
            <a:endParaRPr lang="en-KZ"/>
          </a:p>
        </p:txBody>
      </p:sp>
      <p:sp>
        <p:nvSpPr>
          <p:cNvPr id="26" name="Shape 24"/>
          <p:cNvSpPr/>
          <p:nvPr/>
        </p:nvSpPr>
        <p:spPr>
          <a:xfrm flipV="1">
            <a:off x="4005072" y="3127248"/>
            <a:ext cx="841248" cy="484632"/>
          </a:xfrm>
          <a:prstGeom prst="line">
            <a:avLst/>
          </a:prstGeom>
          <a:noFill/>
          <a:ln w="19050">
            <a:solidFill>
              <a:srgbClr val="12808F"/>
            </a:solidFill>
            <a:prstDash val="solid"/>
            <a:tailEnd type="none"/>
          </a:ln>
        </p:spPr>
        <p:txBody>
          <a:bodyPr/>
          <a:lstStyle/>
          <a:p>
            <a:endParaRPr lang="en-KZ"/>
          </a:p>
        </p:txBody>
      </p:sp>
      <p:sp>
        <p:nvSpPr>
          <p:cNvPr id="27" name="Shape 25"/>
          <p:cNvSpPr/>
          <p:nvPr/>
        </p:nvSpPr>
        <p:spPr>
          <a:xfrm flipH="1" flipV="1">
            <a:off x="4846320" y="3127248"/>
            <a:ext cx="841248" cy="484632"/>
          </a:xfrm>
          <a:prstGeom prst="line">
            <a:avLst/>
          </a:prstGeom>
          <a:noFill/>
          <a:ln w="19050">
            <a:solidFill>
              <a:srgbClr val="12808F"/>
            </a:solidFill>
            <a:prstDash val="solid"/>
            <a:tailEnd type="none"/>
          </a:ln>
        </p:spPr>
        <p:txBody>
          <a:bodyPr/>
          <a:lstStyle/>
          <a:p>
            <a:endParaRPr lang="en-KZ"/>
          </a:p>
        </p:txBody>
      </p:sp>
      <p:sp>
        <p:nvSpPr>
          <p:cNvPr id="28" name="Text 26"/>
          <p:cNvSpPr txBox="1"/>
          <p:nvPr/>
        </p:nvSpPr>
        <p:spPr>
          <a:xfrm>
            <a:off x="3246120" y="4526280"/>
            <a:ext cx="676656" cy="329184"/>
          </a:xfrm>
          <a:prstGeom prst="roundRect">
            <a:avLst>
              <a:gd name="adj" fmla="val 16667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31826a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087368" y="4526280"/>
            <a:ext cx="676656" cy="329184"/>
          </a:xfrm>
          <a:prstGeom prst="roundRect">
            <a:avLst>
              <a:gd name="adj" fmla="val 16667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493c63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928616" y="4526280"/>
            <a:ext cx="676656" cy="329184"/>
          </a:xfrm>
          <a:prstGeom prst="roundRect">
            <a:avLst>
              <a:gd name="adj" fmla="val 16667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513448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769864" y="4526280"/>
            <a:ext cx="676656" cy="329184"/>
          </a:xfrm>
          <a:prstGeom prst="roundRect">
            <a:avLst>
              <a:gd name="adj" fmla="val 16667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687fb2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456432" y="361188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CFE5EA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пары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138928" y="361188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CFE5EA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пары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977640" y="265176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D99A1C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корневой хэш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246120" y="49560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хэши событий объединяются попарно, пока не останется одно значение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1764792"/>
            <a:ext cx="329184" cy="329184"/>
          </a:xfrm>
          <a:prstGeom prst="ellipse">
            <a:avLst/>
          </a:prstGeom>
          <a:solidFill>
            <a:srgbClr val="D99A1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232904" y="1764792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 публичную сеть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086600" y="2286000"/>
            <a:ext cx="2057400" cy="365760"/>
          </a:xfrm>
          <a:prstGeom prst="roundRect">
            <a:avLst>
              <a:gd name="adj" fmla="val 1500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N − 1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15300" y="2670048"/>
            <a:ext cx="0" cy="146304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none"/>
          </a:ln>
        </p:spPr>
        <p:txBody>
          <a:bodyPr/>
          <a:lstStyle/>
          <a:p>
            <a:endParaRPr lang="en-KZ"/>
          </a:p>
        </p:txBody>
      </p:sp>
      <p:sp>
        <p:nvSpPr>
          <p:cNvPr id="40" name="Shape 38"/>
          <p:cNvSpPr/>
          <p:nvPr/>
        </p:nvSpPr>
        <p:spPr>
          <a:xfrm>
            <a:off x="6812280" y="2834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3C49"/>
          </a:solidFill>
          <a:ln/>
          <a:effectLst>
            <a:outerShdw blurRad="101600" dist="25400" dir="5400000" algn="bl" rotWithShape="0">
              <a:srgbClr val="0B3C49">
                <a:alpha val="12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41" name="Text 39"/>
          <p:cNvSpPr txBox="1"/>
          <p:nvPr/>
        </p:nvSpPr>
        <p:spPr>
          <a:xfrm>
            <a:off x="6995160" y="29077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995160" y="3255264"/>
            <a:ext cx="2240280" cy="1188720"/>
          </a:xfrm>
          <a:prstGeom prst="roundRect">
            <a:avLst>
              <a:gd name="adj" fmla="val 4615"/>
            </a:avLst>
          </a:prstGeom>
          <a:solidFill>
            <a:srgbClr val="D99A1C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43" name="Text 41"/>
          <p:cNvSpPr txBox="1"/>
          <p:nvPr/>
        </p:nvSpPr>
        <p:spPr>
          <a:xfrm>
            <a:off x="7132320" y="3291840"/>
            <a:ext cx="1965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корневой хэш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пакета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и время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подпись реестра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115300" y="4590288"/>
            <a:ext cx="0" cy="146304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none"/>
          </a:ln>
        </p:spPr>
        <p:txBody>
          <a:bodyPr/>
          <a:lstStyle/>
          <a:p>
            <a:endParaRPr lang="en-KZ"/>
          </a:p>
        </p:txBody>
      </p:sp>
      <p:sp>
        <p:nvSpPr>
          <p:cNvPr id="45" name="Text 43"/>
          <p:cNvSpPr txBox="1"/>
          <p:nvPr/>
        </p:nvSpPr>
        <p:spPr>
          <a:xfrm>
            <a:off x="7086600" y="4754880"/>
            <a:ext cx="2057400" cy="365760"/>
          </a:xfrm>
          <a:prstGeom prst="roundRect">
            <a:avLst>
              <a:gd name="adj" fmla="val 1500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N + 1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784080" y="1764792"/>
            <a:ext cx="329184" cy="329184"/>
          </a:xfrm>
          <a:prstGeom prst="ellipse">
            <a:avLst/>
          </a:prstGeom>
          <a:solidFill>
            <a:srgbClr val="D99A1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204704" y="1764792"/>
            <a:ext cx="13926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Отметка в реестре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9784080" y="2286000"/>
            <a:ext cx="1813255" cy="2834640"/>
          </a:xfrm>
          <a:prstGeom prst="roundRect">
            <a:avLst>
              <a:gd name="adj" fmla="val 4034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9" name="Text 47"/>
          <p:cNvSpPr txBox="1"/>
          <p:nvPr/>
        </p:nvSpPr>
        <p:spPr>
          <a:xfrm>
            <a:off x="9921240" y="2395728"/>
            <a:ext cx="15389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921240" y="2615184"/>
            <a:ext cx="1538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12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9921240" y="2980944"/>
            <a:ext cx="15389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Корневой хэш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9921240" y="3200400"/>
            <a:ext cx="1538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8c1f4a…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9921240" y="3566160"/>
            <a:ext cx="15389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Транзакция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9921240" y="3785616"/>
            <a:ext cx="1538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0x3fa9…c21e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9921240" y="4151376"/>
            <a:ext cx="15389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блока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9921240" y="4370832"/>
            <a:ext cx="1538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17.09.2026 23:59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9921240" y="4754880"/>
            <a:ext cx="731520" cy="237744"/>
          </a:xfrm>
          <a:prstGeom prst="roundRect">
            <a:avLst>
              <a:gd name="adj" fmla="val 23077"/>
            </a:avLst>
          </a:prstGeom>
          <a:solidFill>
            <a:srgbClr val="CFE5EA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916936" y="4690872"/>
            <a:ext cx="292608" cy="0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59" name="Shape 57"/>
          <p:cNvSpPr/>
          <p:nvPr/>
        </p:nvSpPr>
        <p:spPr>
          <a:xfrm>
            <a:off x="5760720" y="3200400"/>
            <a:ext cx="1005840" cy="0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none"/>
          </a:ln>
        </p:spPr>
        <p:txBody>
          <a:bodyPr/>
          <a:lstStyle/>
          <a:p>
            <a:endParaRPr lang="en-KZ"/>
          </a:p>
        </p:txBody>
      </p:sp>
      <p:sp>
        <p:nvSpPr>
          <p:cNvPr id="60" name="Shape 58"/>
          <p:cNvSpPr/>
          <p:nvPr/>
        </p:nvSpPr>
        <p:spPr>
          <a:xfrm>
            <a:off x="5760720" y="2889504"/>
            <a:ext cx="0" cy="310896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none"/>
          </a:ln>
        </p:spPr>
        <p:txBody>
          <a:bodyPr/>
          <a:lstStyle/>
          <a:p>
            <a:endParaRPr lang="en-KZ"/>
          </a:p>
        </p:txBody>
      </p:sp>
      <p:sp>
        <p:nvSpPr>
          <p:cNvPr id="61" name="Shape 59"/>
          <p:cNvSpPr/>
          <p:nvPr/>
        </p:nvSpPr>
        <p:spPr>
          <a:xfrm>
            <a:off x="6537960" y="3200400"/>
            <a:ext cx="237744" cy="0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62" name="Shape 60"/>
          <p:cNvSpPr/>
          <p:nvPr/>
        </p:nvSpPr>
        <p:spPr>
          <a:xfrm>
            <a:off x="9454896" y="3703320"/>
            <a:ext cx="292608" cy="0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63" name="Shape 61"/>
          <p:cNvSpPr/>
          <p:nvPr/>
        </p:nvSpPr>
        <p:spPr>
          <a:xfrm>
            <a:off x="594360" y="5577840"/>
            <a:ext cx="11002975" cy="566928"/>
          </a:xfrm>
          <a:prstGeom prst="roundRect">
            <a:avLst>
              <a:gd name="adj" fmla="val 9677"/>
            </a:avLst>
          </a:prstGeom>
          <a:solidFill>
            <a:srgbClr val="FBF1DA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64" name="Text 62"/>
          <p:cNvSpPr txBox="1"/>
          <p:nvPr/>
        </p:nvSpPr>
        <p:spPr>
          <a:xfrm>
            <a:off x="868680" y="557784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любого события меняет корневой хэш, </a:t>
            </a:r>
            <a:r>
              <a:rPr lang="en-US" sz="13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значение, записанное в блокчейне, изменить нельзя.</a:t>
            </a:r>
            <a:endParaRPr lang="en-US" sz="135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Состав записи в блокчейне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публичную сеть передаются только контрольные значения; содержательные данные остаются в реестре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Проектное решение · этап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91760" cy="3017520"/>
          </a:xfrm>
          <a:prstGeom prst="roundRect">
            <a:avLst>
              <a:gd name="adj" fmla="val 2424"/>
            </a:avLst>
          </a:prstGeom>
          <a:solidFill>
            <a:srgbClr val="FBF1DA"/>
          </a:solidFill>
          <a:ln w="9525">
            <a:solidFill>
              <a:srgbClr val="D99A1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7" name="Shape 5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D99A1C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215341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2011680"/>
            <a:ext cx="411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Записывается в блокчейн</a:t>
            </a:r>
            <a:endParaRPr lang="en-US" sz="1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87121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807208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Корневой хэш суточного пакета событий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34670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282696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и время формирования пакета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82219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71600" y="3758184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пакета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29768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71600" y="4233672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Цифровая подпись реестра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205576" y="1783080"/>
            <a:ext cx="5391760" cy="3017520"/>
          </a:xfrm>
          <a:prstGeom prst="roundRect">
            <a:avLst>
              <a:gd name="adj" fmla="val 2424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9" name="Shape 12"/>
          <p:cNvSpPr/>
          <p:nvPr/>
        </p:nvSpPr>
        <p:spPr>
          <a:xfrm>
            <a:off x="6479896" y="2011680"/>
            <a:ext cx="566928" cy="566928"/>
          </a:xfrm>
          <a:prstGeom prst="ellipse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628" y="2153412"/>
            <a:ext cx="283464" cy="28346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211416" y="2011680"/>
            <a:ext cx="411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Остаётся в реестре</a:t>
            </a:r>
            <a:endParaRPr lang="en-US" sz="18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624" y="2871216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982816" y="2807208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Фотографии и аудиозаписи</a:t>
            </a:r>
            <a:endParaRPr lang="en-US" sz="14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624" y="3346704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982816" y="3282696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 мастеров и владельцев</a:t>
            </a:r>
            <a:endParaRPr lang="en-US" sz="14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624" y="3822192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982816" y="3758184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Сертификаты и протоколы испытаний</a:t>
            </a:r>
            <a:endParaRPr lang="en-US" sz="14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624" y="4297680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6982816" y="4233672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Служебные сведения и журналы действий</a:t>
            </a:r>
            <a:endParaRPr lang="en-US" sz="1400" dirty="0"/>
          </a:p>
        </p:txBody>
      </p:sp>
      <p:sp>
        <p:nvSpPr>
          <p:cNvPr id="30" name="Shape 18"/>
          <p:cNvSpPr/>
          <p:nvPr/>
        </p:nvSpPr>
        <p:spPr>
          <a:xfrm>
            <a:off x="594360" y="5120640"/>
            <a:ext cx="566928" cy="566928"/>
          </a:xfrm>
          <a:prstGeom prst="ellipse">
            <a:avLst/>
          </a:prstGeom>
          <a:solidFill>
            <a:srgbClr val="0B3C49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" y="5262372"/>
            <a:ext cx="283464" cy="283464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1344168" y="5084064"/>
            <a:ext cx="456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</a:t>
            </a:r>
            <a:endParaRPr lang="en-US" sz="1500" dirty="0"/>
          </a:p>
        </p:txBody>
      </p:sp>
      <p:sp>
        <p:nvSpPr>
          <p:cNvPr id="33" name="Text 20"/>
          <p:cNvSpPr txBox="1"/>
          <p:nvPr/>
        </p:nvSpPr>
        <p:spPr>
          <a:xfrm>
            <a:off x="1344168" y="5413248"/>
            <a:ext cx="456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хэшу невозможно восстановить исходные данные; персональные сведения не покидают реестр.</a:t>
            </a:r>
            <a:endParaRPr lang="en-US" sz="1250" dirty="0"/>
          </a:p>
        </p:txBody>
      </p:sp>
      <p:sp>
        <p:nvSpPr>
          <p:cNvPr id="34" name="Shape 21"/>
          <p:cNvSpPr/>
          <p:nvPr/>
        </p:nvSpPr>
        <p:spPr>
          <a:xfrm>
            <a:off x="6205576" y="5120640"/>
            <a:ext cx="566928" cy="566928"/>
          </a:xfrm>
          <a:prstGeom prst="ellipse">
            <a:avLst/>
          </a:prstGeom>
          <a:solidFill>
            <a:srgbClr val="0B3C49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7308" y="5262372"/>
            <a:ext cx="283464" cy="283464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6955384" y="5084064"/>
            <a:ext cx="456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Экономичность</a:t>
            </a:r>
            <a:endParaRPr lang="en-US" sz="1500" dirty="0"/>
          </a:p>
        </p:txBody>
      </p:sp>
      <p:sp>
        <p:nvSpPr>
          <p:cNvPr id="37" name="Text 23"/>
          <p:cNvSpPr txBox="1"/>
          <p:nvPr/>
        </p:nvSpPr>
        <p:spPr>
          <a:xfrm>
            <a:off x="6955384" y="5413248"/>
            <a:ext cx="456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транзакция на суточный пакет независимо от числа событий.</a:t>
            </a:r>
            <a:endParaRPr lang="en-US" sz="12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подлинности по QR-коду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Проверку выполняет любое заинтересованное лицо без обращения к оператору реестра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Проектное решение · макет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10512"/>
            <a:ext cx="512064" cy="512064"/>
          </a:xfrm>
          <a:prstGeom prst="ellipse">
            <a:avLst/>
          </a:prstGeom>
          <a:solidFill>
            <a:srgbClr val="1280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739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Сканирование QR-кода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031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размещается на сертификате, этикетке и внутренней маркировке инструмента.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34640"/>
            <a:ext cx="512064" cy="512064"/>
          </a:xfrm>
          <a:prstGeom prst="ellipse">
            <a:avLst/>
          </a:prstGeom>
          <a:solidFill>
            <a:srgbClr val="1280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980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паспорт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272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сертификата, мастер, год изготовления, характеристики и подтверждённые события.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858768"/>
            <a:ext cx="512064" cy="512064"/>
          </a:xfrm>
          <a:prstGeom prst="ellipse">
            <a:avLst/>
          </a:prstGeom>
          <a:solidFill>
            <a:srgbClr val="D99A1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8221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Сверка с блокчейном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5137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Корневой хэш пакета сравнивается с записью в публичной сети; результат доступен любому лицу.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4956048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6" name="Text 14"/>
          <p:cNvSpPr txBox="1"/>
          <p:nvPr/>
        </p:nvSpPr>
        <p:spPr>
          <a:xfrm>
            <a:off x="795528" y="5010912"/>
            <a:ext cx="48554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Ограничение. </a:t>
            </a: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QR-код открывает паспорт, но не подтверждает подлинность самого предмета. Для связи паспорта с физическим инструментом предусматривается защищённая маркировка: скрытый серийный номер или NFC-метка.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81928" y="2441448"/>
            <a:ext cx="1335024" cy="1335024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9525">
            <a:solidFill>
              <a:srgbClr val="C9D7DB"/>
            </a:solidFill>
            <a:prstDash val="solid"/>
          </a:ln>
          <a:effectLst>
            <a:outerShdw blurRad="101600" dist="25400" dir="5400000" algn="bl" rotWithShape="0">
              <a:srgbClr val="0B3C49">
                <a:alpha val="12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pic>
        <p:nvPicPr>
          <p:cNvPr id="18" name="Image 0" descr="/tmp/claude-0/-home-claude/dc9561c7-0182-531d-88fc-88392d577360/scratchpad/deck/img/qr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514600"/>
            <a:ext cx="1188720" cy="11887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126480" y="38313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QR-код на сертификате (пример)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08392" y="3108960"/>
            <a:ext cx="521208" cy="0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21" name="Shape 18"/>
          <p:cNvSpPr/>
          <p:nvPr/>
        </p:nvSpPr>
        <p:spPr>
          <a:xfrm>
            <a:off x="8321040" y="1627632"/>
            <a:ext cx="2926080" cy="4572000"/>
          </a:xfrm>
          <a:prstGeom prst="roundRect">
            <a:avLst>
              <a:gd name="adj" fmla="val 8750"/>
            </a:avLst>
          </a:prstGeom>
          <a:solidFill>
            <a:srgbClr val="0B3C49"/>
          </a:solidFill>
          <a:ln/>
          <a:effectLst>
            <a:outerShdw blurRad="101600" dist="25400" dir="5400000" algn="bl" rotWithShape="0">
              <a:srgbClr val="0B3C49">
                <a:alpha val="12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22" name="Shape 19"/>
          <p:cNvSpPr/>
          <p:nvPr/>
        </p:nvSpPr>
        <p:spPr>
          <a:xfrm>
            <a:off x="8430768" y="1901952"/>
            <a:ext cx="2706624" cy="402336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23" name="Shape 20"/>
          <p:cNvSpPr/>
          <p:nvPr/>
        </p:nvSpPr>
        <p:spPr>
          <a:xfrm>
            <a:off x="8430768" y="1901952"/>
            <a:ext cx="2706624" cy="384048"/>
          </a:xfrm>
          <a:prstGeom prst="roundRect">
            <a:avLst>
              <a:gd name="adj" fmla="val 28571"/>
            </a:avLst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24" name="Shape 21"/>
          <p:cNvSpPr/>
          <p:nvPr/>
        </p:nvSpPr>
        <p:spPr>
          <a:xfrm>
            <a:off x="8430768" y="2084832"/>
            <a:ext cx="2706624" cy="201168"/>
          </a:xfrm>
          <a:prstGeom prst="rect">
            <a:avLst/>
          </a:prstGeom>
          <a:solidFill>
            <a:srgbClr val="12808F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25" name="Text 22"/>
          <p:cNvSpPr txBox="1"/>
          <p:nvPr/>
        </p:nvSpPr>
        <p:spPr>
          <a:xfrm>
            <a:off x="8567928" y="190195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паспорт домбры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567928" y="2395728"/>
            <a:ext cx="2432304" cy="713232"/>
          </a:xfrm>
          <a:prstGeom prst="roundRect">
            <a:avLst>
              <a:gd name="adj" fmla="val 7692"/>
            </a:avLst>
          </a:prstGeom>
          <a:solidFill>
            <a:srgbClr val="E6F2F4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76" y="2606040"/>
            <a:ext cx="292608" cy="292608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567928" y="31821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DOM-KZ-2026-000001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8567928" y="3502152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1E7B4A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Сертифицирована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8567928" y="38404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9710928" y="384048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А. (демо)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8567928" y="40782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изготовления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9710928" y="4078224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8567928" y="4315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9710928" y="4315968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KZ-DOM-2026-0001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8567928" y="45537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сертификата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9710928" y="4553712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7c0e81…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8567928" y="4828032"/>
            <a:ext cx="2432304" cy="987552"/>
          </a:xfrm>
          <a:prstGeom prst="roundRect">
            <a:avLst>
              <a:gd name="adj" fmla="val 5556"/>
            </a:avLst>
          </a:prstGeom>
          <a:solidFill>
            <a:srgbClr val="FBF1DA"/>
          </a:solidFill>
          <a:ln w="9525">
            <a:solidFill>
              <a:srgbClr val="D99A1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368" y="4919472"/>
            <a:ext cx="201168" cy="201168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8924544" y="489204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Зафиксировано в блокчейне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8659368" y="5157216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№ 12 · 17.09.2026 23:59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Транзакция 0x3fa9…c21e</a:t>
            </a:r>
            <a:endParaRPr lang="en-US" sz="900" dirty="0"/>
          </a:p>
          <a:p>
            <a:pPr marL="0" indent="0">
              <a:buNone/>
            </a:pPr>
            <a:r>
              <a:rPr lang="en-US" sz="900" u="sng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в обозревателе блоков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8138160" y="62179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Макет публичной страницы</a:t>
            </a:r>
            <a:endParaRPr lang="en-US" sz="10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322BA2-8D4A-DD36-F5E2-46076283E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307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Этапы работ и текущее состояние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78992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Блокчейн подключается после пилота на 10 инструментах и переноса реестра на сервер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429000" cy="4343400"/>
          </a:xfrm>
          <a:prstGeom prst="roundRect">
            <a:avLst>
              <a:gd name="adj" fmla="val 2667"/>
            </a:avLst>
          </a:prstGeom>
          <a:solidFill>
            <a:srgbClr val="124C5C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2002536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1E7B4A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работает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5000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Реестр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136392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175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и регистрационный номер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593592"/>
            <a:ext cx="164592" cy="1645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34747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с хэшами SHA-256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050792"/>
            <a:ext cx="164592" cy="1645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931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и цепочка событий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507992"/>
            <a:ext cx="164592" cy="1645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43891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целостности, 34 автотеста</a:t>
            </a:r>
            <a:endParaRPr lang="en-US" sz="1250" dirty="0"/>
          </a:p>
        </p:txBody>
      </p:sp>
      <p:sp>
        <p:nvSpPr>
          <p:cNvPr id="16" name="Text 10"/>
          <p:cNvSpPr txBox="1"/>
          <p:nvPr/>
        </p:nvSpPr>
        <p:spPr>
          <a:xfrm>
            <a:off x="868680" y="5212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i="1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Далее: публичный паспорт, QR-код, пилот на 10 инструментах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069080" y="2606040"/>
            <a:ext cx="266548" cy="0"/>
          </a:xfrm>
          <a:prstGeom prst="line">
            <a:avLst/>
          </a:prstGeom>
          <a:noFill/>
          <a:ln w="31750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8" name="Shape 12"/>
          <p:cNvSpPr/>
          <p:nvPr/>
        </p:nvSpPr>
        <p:spPr>
          <a:xfrm>
            <a:off x="4381348" y="1783080"/>
            <a:ext cx="3429000" cy="4343400"/>
          </a:xfrm>
          <a:prstGeom prst="roundRect">
            <a:avLst>
              <a:gd name="adj" fmla="val 2667"/>
            </a:avLst>
          </a:prstGeom>
          <a:solidFill>
            <a:srgbClr val="124C5C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19" name="Text 13"/>
          <p:cNvSpPr txBox="1"/>
          <p:nvPr/>
        </p:nvSpPr>
        <p:spPr>
          <a:xfrm>
            <a:off x="4655668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5844388" y="2002536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12808F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пилота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4655668" y="235000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 записей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4701388" y="31638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3" name="Text 17"/>
          <p:cNvSpPr txBox="1"/>
          <p:nvPr/>
        </p:nvSpPr>
        <p:spPr>
          <a:xfrm>
            <a:off x="4975708" y="30175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Сервер, HTTPS, PostgreSQL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701388" y="36210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5" name="Text 19"/>
          <p:cNvSpPr txBox="1"/>
          <p:nvPr/>
        </p:nvSpPr>
        <p:spPr>
          <a:xfrm>
            <a:off x="4975708" y="34747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Ежедневные резервные копии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701388" y="40782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7" name="Text 21"/>
          <p:cNvSpPr txBox="1"/>
          <p:nvPr/>
        </p:nvSpPr>
        <p:spPr>
          <a:xfrm>
            <a:off x="4975708" y="3931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входов и действий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701388" y="45354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9" name="Text 23"/>
          <p:cNvSpPr txBox="1"/>
          <p:nvPr/>
        </p:nvSpPr>
        <p:spPr>
          <a:xfrm>
            <a:off x="4975708" y="43891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Роли: мастер, лаборатория, орган сертификации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4701388" y="49926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1" name="Text 25"/>
          <p:cNvSpPr txBox="1"/>
          <p:nvPr/>
        </p:nvSpPr>
        <p:spPr>
          <a:xfrm>
            <a:off x="4975708" y="48463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Двухфакторная авторизация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4655668" y="5212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i="1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перехода: завершён пилот на 10 инструментах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7856068" y="2606040"/>
            <a:ext cx="266548" cy="0"/>
          </a:xfrm>
          <a:prstGeom prst="line">
            <a:avLst/>
          </a:prstGeom>
          <a:noFill/>
          <a:ln w="31750">
            <a:solidFill>
              <a:srgbClr val="D99A1C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34" name="Shape 28"/>
          <p:cNvSpPr/>
          <p:nvPr/>
        </p:nvSpPr>
        <p:spPr>
          <a:xfrm>
            <a:off x="8168335" y="1783080"/>
            <a:ext cx="3429000" cy="4343400"/>
          </a:xfrm>
          <a:prstGeom prst="roundRect">
            <a:avLst>
              <a:gd name="adj" fmla="val 2667"/>
            </a:avLst>
          </a:prstGeom>
          <a:solidFill>
            <a:srgbClr val="124C5C"/>
          </a:solidFill>
          <a:ln/>
        </p:spPr>
        <p:txBody>
          <a:bodyPr/>
          <a:lstStyle/>
          <a:p>
            <a:endParaRPr lang="en-KZ"/>
          </a:p>
        </p:txBody>
      </p:sp>
      <p:sp>
        <p:nvSpPr>
          <p:cNvPr id="35" name="Text 29"/>
          <p:cNvSpPr txBox="1"/>
          <p:nvPr/>
        </p:nvSpPr>
        <p:spPr>
          <a:xfrm>
            <a:off x="8442655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9631375" y="2002536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D99A1C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Проектное решение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8442655" y="235000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Блокчейн</a:t>
            </a:r>
            <a:endParaRPr lang="en-US" sz="2200" dirty="0"/>
          </a:p>
        </p:txBody>
      </p:sp>
      <p:sp>
        <p:nvSpPr>
          <p:cNvPr id="38" name="Shape 32"/>
          <p:cNvSpPr/>
          <p:nvPr/>
        </p:nvSpPr>
        <p:spPr>
          <a:xfrm>
            <a:off x="8488375" y="31638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9" name="Text 33"/>
          <p:cNvSpPr txBox="1"/>
          <p:nvPr/>
        </p:nvSpPr>
        <p:spPr>
          <a:xfrm>
            <a:off x="8762695" y="30175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Суточные пакеты и корневой хэш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8488375" y="36210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1" name="Text 35"/>
          <p:cNvSpPr txBox="1"/>
          <p:nvPr/>
        </p:nvSpPr>
        <p:spPr>
          <a:xfrm>
            <a:off x="8762695" y="34747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 тестовую, затем в основную сеть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8488375" y="40782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3" name="Text 37"/>
          <p:cNvSpPr txBox="1"/>
          <p:nvPr/>
        </p:nvSpPr>
        <p:spPr>
          <a:xfrm>
            <a:off x="8762695" y="3931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сверки с блокчейном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8488375" y="45354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5" name="Text 39"/>
          <p:cNvSpPr txBox="1"/>
          <p:nvPr/>
        </p:nvSpPr>
        <p:spPr>
          <a:xfrm>
            <a:off x="8762695" y="43891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Защищённая маркировка инструмента</a:t>
            </a:r>
            <a:endParaRPr lang="en-US" sz="1250" dirty="0"/>
          </a:p>
        </p:txBody>
      </p:sp>
      <p:sp>
        <p:nvSpPr>
          <p:cNvPr id="46" name="Text 40"/>
          <p:cNvSpPr txBox="1"/>
          <p:nvPr/>
        </p:nvSpPr>
        <p:spPr>
          <a:xfrm>
            <a:off x="8442655" y="5212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i="1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перехода: реестр работает на сервере, действует резервное копирование</a:t>
            </a:r>
            <a:endParaRPr lang="en-US" sz="1150" dirty="0"/>
          </a:p>
        </p:txBody>
      </p:sp>
      <p:sp>
        <p:nvSpPr>
          <p:cNvPr id="47" name="Text 41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FE5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2069</Words>
  <Application>Microsoft Macintosh PowerPoint</Application>
  <PresentationFormat>Widescreen</PresentationFormat>
  <Paragraphs>333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Цифровой реестр домбр</dc:title>
  <dc:subject>Цифровой паспорт инструмента, защита записей и фиксация в блокчейне</dc:subject>
  <dc:creator>PptxGenJS</dc:creator>
  <cp:lastModifiedBy>Майданов Адиль Кокенович</cp:lastModifiedBy>
  <cp:revision>2</cp:revision>
  <dcterms:created xsi:type="dcterms:W3CDTF">2026-09-17T13:13:05Z</dcterms:created>
  <dcterms:modified xsi:type="dcterms:W3CDTF">2026-09-17T17:53:28Z</dcterms:modified>
</cp:coreProperties>
</file>