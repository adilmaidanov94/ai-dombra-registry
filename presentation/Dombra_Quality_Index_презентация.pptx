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Веса критериев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49"/>
              </a:solidFill>
              <a:effectLst/>
            </c:spPr>
          </c:dPt>
          <c:dPt>
            <c:idx val="1"/>
            <c:bubble3D val="0"/>
            <c:spPr>
              <a:solidFill>
                <a:srgbClr val="12808F"/>
              </a:solidFill>
              <a:effectLst/>
            </c:spPr>
          </c:dPt>
          <c:dPt>
            <c:idx val="2"/>
            <c:bubble3D val="0"/>
            <c:spPr>
              <a:solidFill>
                <a:srgbClr val="D99A1C"/>
              </a:solidFill>
              <a:effectLst/>
            </c:spPr>
          </c:dPt>
          <c:dPt>
            <c:idx val="3"/>
            <c:bubble3D val="0"/>
            <c:spPr>
              <a:solidFill>
                <a:srgbClr val="8A5E06"/>
              </a:solidFill>
              <a:effectLst/>
            </c:spPr>
          </c:dPt>
          <c:dPt>
            <c:idx val="4"/>
            <c:bubble3D val="0"/>
            <c:spPr>
              <a:solidFill>
                <a:srgbClr val="5F7079"/>
              </a:solidFill>
              <a:effectLst/>
            </c:spPr>
          </c:dPt>
          <c:dLbls>
            <c:dLbl>
              <c:idx val="0"/>
              <c:numFmt formatCode="0&quot; 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 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 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 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 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 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Интонация</c:v>
                </c:pt>
                <c:pt idx="1">
                  <c:v>Сустейн</c:v>
                </c:pt>
                <c:pt idx="2">
                  <c:v>Тембр</c:v>
                </c:pt>
                <c:pt idx="3">
                  <c:v>Чистота</c:v>
                </c:pt>
                <c:pt idx="4">
                  <c:v>Баланс и динамика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Презентация описывает Dombra Quality Index — индекс качества звучания домбры, построенный на объективных измерениях звука. Справа показан общий принцип: запись инструмента по единому протоколу, измерение параметров, формирование акустического профиля и расчёт индекса.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Индекс решает три задачи: объективность оценки, сопоставимость инструментов и прослеживаемость результата в реестре. Индекс — это число от 0 до 100, полученное из акустического профиля по критериям, которые утверждает экспертный совет. Профиль при этом сохраняется целиком: индекс его дополняет, а не заменяет.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Акустический паспорт складывается из восьми групп величин. Строй и точность ладов, атака, затухание и гармонический спектр относятся к каждой ноте; резонансы корпуса, баланс струн и динамический диапазон — к инструменту в целом. Все эти величины уже вычисляются прототипом. Важно, что сравнивать инструменты по ним можно только при одинаковых условиях записи.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 формируется в пять шагов. Лаборатория записывает инструмент по протоколу. Программа обрабатывает сигнал и строит акустический профиль. Экспертный совет задаёт эталонные профили, веса критериев и классы качества. Индекс и профиль записываются в цифровой паспорт реестра и доступны по QR-коду. Три условия внизу: единые условия записи, отсутствие «чёрного ящика» на первых двух уровнях и защита результата средствами реестра.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оценки трёхуровневая. Первый уровень — объективные измерения, он реализован. Второй — сравнение профиля с эталонными профилями, которые утверждает экспертный совет. Третий — экспертные оценки при слепом прослушивании, по которым калибруются веса индекса. Измерения отделены от оценки намеренно: понятие хорошего звучания субъективно, и критерии могут меняться, тогда как измеренные величины остаются.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Индекс складывается из пяти критериев: интонация, сустейн, тембр, чистота, баланс и динамика. Каждый критерий получает оценку от 0 до 100 по расстоянию измеренных величин до эталонного профиля, затем оценки суммируются с весами. Веса и границы классов на слайде — пример; их утверждает экспертный совет. Индекс всегда сопровождается профилем: одно число не описывает звучание полностью.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уже вычисляет все величины первого уровня. Его точность проверена на синтетических сигналах, где правильный ответ известен заранее: высота тона в пределах трёх центов, время затухания в пределах шести процентов, уровни гармоник в пределах полутора децибел. Внизу показана сводка, которую программа выдаёт по папке с записями сессии. Первая запись живого инструмента выполняется по подготовленному протоколу.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План: в сентябре — пилотная запись одного инструмента, в октябре–ноябре — база из десяти инструментов, эталонные профили и экспертный совет, в декабре — первая версия индекса в паспорте реестра, в 2027 году — распознавание двух струн и модели третьего уровня. От руководства требуются четыре решения: состав экспертного совета, лабораторная установка, инструменты для базы и утверждение критериев индекса. Ограничения названы честно: субъективность понятия качества, зависимость тембра от условий записи и небольшой объём базы на старте.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·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288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Dombra Quality Index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718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Акустический паспорт домбры и индекс качества звучания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572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Объективные измерения звука вместо оценки на слух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18120" y="1280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1280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1495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протокол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92640" y="2093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18120" y="2423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0" y="2423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966960" y="2638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T60 · спектр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3236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3566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3781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паспорт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4379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18120" y="4709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D99A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9244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DQI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4924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индекс качества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звучание домбры оценивается на слух: результат зависит от эксперта и не сохраняется в документах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317175" y="54864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Dombra Quality 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391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56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Объективность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402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звука измеряются программой по записи. При одинаковых условиях записи результат повторяется и не зависит от того, кто слушает.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55848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204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337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Сопоставимость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72160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сравниваются между собой и с эталонным профилем по одним и тем же величинам: строй, атака, затухание, спектр, шум.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94360" y="4837176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0017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8188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Прослеживаемость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5202936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и индекс записываются в цифровой паспорт реестра, защищаются цепочкой хэшей и доступны для проверки по QR-коду.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086600" y="1783080"/>
            <a:ext cx="4507992" cy="4343400"/>
          </a:xfrm>
          <a:prstGeom prst="roundRect">
            <a:avLst>
              <a:gd name="adj" fmla="val 1684"/>
            </a:avLst>
          </a:prstGeom>
          <a:solidFill>
            <a:srgbClr val="F5F9F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406640" y="19659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Dombra Quality Index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40664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DQI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8915400" y="237744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от 0 до 100, сводящее акустический профиль инструмента к одной оценке по критериям экспертного совета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406640" y="3429000"/>
            <a:ext cx="3867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635240" y="3538728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7635240" y="3867912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измеренные величины: строй, атака, затухание, спектр, шум, резонансы корпуса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406640" y="4663440"/>
            <a:ext cx="3867912" cy="1051560"/>
          </a:xfrm>
          <a:prstGeom prst="roundRect">
            <a:avLst>
              <a:gd name="adj" fmla="val 6957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635240" y="4773168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7635240" y="5102352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 профиля по весам критериев; дополняет профиль, но не заменяет его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Акустический паспорт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групп величин по каждой ноте и по инструменту в целом; все они уже вычисляются прототипом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Dombra Quality 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939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587752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 и лады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35224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Отклонение каждого лада от равномерной темперации в центах; проверка порядка ладов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178308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73704" y="1965960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720" y="209397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73704" y="2587752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573704" y="2935224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нарастания звука от 10 до 90 % пика, в миллисекундах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87288" y="178308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70168" y="1965960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184" y="209397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70168" y="2587752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Затухание, T60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6370168" y="2935224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спада в дБ/с и время спада на 60 дБ — «индекс сустейна»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983751" y="1783080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66631" y="1965960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647" y="209397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66631" y="2587752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Гармонический спектр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9166631" y="2935224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гармоник 1–10 относительно основного тона; негармоничность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94360" y="3858768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4041648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1696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7240" y="4663440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Спектральный баланс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010912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Спектральный центроид и доли энергии в низкой, средней и высокой полосах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3390824" y="3858768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573704" y="4041648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1720" y="416966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573704" y="4663440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и стабильность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3573704" y="5010912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 гармоники/шум в дБ; разброс и дрейф высоты внутри ноты в центах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187288" y="3858768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70168" y="4041648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184" y="4169664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370168" y="4663440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Резонансы корпуса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6370168" y="5010912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Частоты и уровни главных резонансов деки по постукиванию при заглушенных струнах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8983751" y="3858768"/>
            <a:ext cx="2613584" cy="1874520"/>
          </a:xfrm>
          <a:prstGeom prst="roundRect">
            <a:avLst>
              <a:gd name="adj" fmla="val 390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166631" y="4041648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647" y="4169664"/>
            <a:ext cx="256032" cy="25603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166631" y="4663440"/>
            <a:ext cx="229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и динамика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9166631" y="5010912"/>
            <a:ext cx="2293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струн по уровню, T60 и центроиду; диапазон от тихой до громкой игры в дБ</a:t>
            </a:r>
            <a:endParaRPr lang="en-US" sz="1150" dirty="0"/>
          </a:p>
        </p:txBody>
      </p:sp>
      <p:sp>
        <p:nvSpPr>
          <p:cNvPr id="46" name="Text 36"/>
          <p:cNvSpPr txBox="1"/>
          <p:nvPr/>
        </p:nvSpPr>
        <p:spPr>
          <a:xfrm>
            <a:off x="594360" y="58978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Величины сравнимы между инструментами только при одинаковых условиях записи: одно устройство, одно расстояние, одно помещение, один приём щипка.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формируется оценка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записи по единому протоколу до индекса в цифровом паспорте инструмента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317175" y="54864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Dombra Quality Index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418588"/>
            <a:ext cx="265176" cy="265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по протоколу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381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лад каждой струны, затухание, постукивание по деке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554480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86435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64358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47238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26" y="2418588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47238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сигнала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047238" y="34381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тона, огибающая, спектр гармоник, шум, резонансы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30318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824478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5134356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134356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17236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2418588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17236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Акустический профиль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317236" y="34381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по нотам и сводка по инструменту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100316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094476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7404354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ЭКСПЕРТНЫЙ СОВЕТ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404354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587234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822" y="2418588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587234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и эталон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587234" y="34381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Эталонные профили, веса критериев, классы качества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370314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8364474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38" name="Text 32"/>
          <p:cNvSpPr txBox="1"/>
          <p:nvPr/>
        </p:nvSpPr>
        <p:spPr>
          <a:xfrm>
            <a:off x="9674352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9674352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857232" y="2286000"/>
            <a:ext cx="530352" cy="530352"/>
          </a:xfrm>
          <a:prstGeom prst="ellipse">
            <a:avLst/>
          </a:prstGeom>
          <a:solidFill>
            <a:srgbClr val="D99A1C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2418588"/>
            <a:ext cx="265176" cy="26517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9857232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в паспорте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9857232" y="343814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и DQI в цифровом паспорте, проверка по QR-коду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10634472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594360" y="448056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82296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записи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32004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устройство, одно расстояние, одно помещение, один приём щипка — иначе тембры несопоставимы</a:t>
            </a:r>
            <a:endParaRPr lang="en-US" sz="1250" dirty="0"/>
          </a:p>
        </p:txBody>
      </p:sp>
      <p:sp>
        <p:nvSpPr>
          <p:cNvPr id="48" name="Shape 41"/>
          <p:cNvSpPr/>
          <p:nvPr/>
        </p:nvSpPr>
        <p:spPr>
          <a:xfrm>
            <a:off x="594360" y="502920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CFE5EA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82296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нейросети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320040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уровнях 1–2 применяется детерминированная обработка сигнала: результат воспроизводим и объясним</a:t>
            </a:r>
            <a:endParaRPr lang="en-US" sz="1250" dirty="0"/>
          </a:p>
        </p:txBody>
      </p:sp>
      <p:sp>
        <p:nvSpPr>
          <p:cNvPr id="51" name="Shape 44"/>
          <p:cNvSpPr/>
          <p:nvPr/>
        </p:nvSpPr>
        <p:spPr>
          <a:xfrm>
            <a:off x="594360" y="557784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FBF1DA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822960" y="5577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результата</a:t>
            </a:r>
            <a:endParaRPr lang="en-US" sz="1300" dirty="0"/>
          </a:p>
        </p:txBody>
      </p:sp>
      <p:sp>
        <p:nvSpPr>
          <p:cNvPr id="53" name="Text 46"/>
          <p:cNvSpPr txBox="1"/>
          <p:nvPr/>
        </p:nvSpPr>
        <p:spPr>
          <a:xfrm>
            <a:off x="3200400" y="5577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записывается событием реестра с хэшем; на третьем этапе — фиксация в публичном блокчейне</a:t>
            </a:r>
            <a:endParaRPr lang="en-US" sz="1250" dirty="0"/>
          </a:p>
        </p:txBody>
      </p:sp>
      <p:sp>
        <p:nvSpPr>
          <p:cNvPr id="54" name="Text 47"/>
          <p:cNvSpPr txBox="1"/>
          <p:nvPr/>
        </p:nvSpPr>
        <p:spPr>
          <a:xfrm>
            <a:off x="10545775" y="566013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уровня оценки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Объективные измерения — основание; сравнение с эталоном и экспертные оценки надстраиваются над ними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317175" y="54864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Dombra Quality 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6035040" cy="1170432"/>
          </a:xfrm>
          <a:prstGeom prst="roundRect">
            <a:avLst>
              <a:gd name="adj" fmla="val 625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03120" y="195681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19751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Экспертные оценки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34086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Слепое прослушивание мастерами и исполнителями по шкалам; калибровка весов индекса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011680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 · 2027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34440" y="3182112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463040" y="33101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3284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эталоном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69417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профиля до эталонных профилей класса; эталон утверждает экспертный совет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36499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этап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4535424"/>
            <a:ext cx="7315200" cy="1170432"/>
          </a:xfrm>
          <a:prstGeom prst="roundRect">
            <a:avLst>
              <a:gd name="adj" fmla="val 6250"/>
            </a:avLst>
          </a:prstGeom>
          <a:solidFill>
            <a:srgbClr val="E6F2F4"/>
          </a:solidFill>
          <a:ln w="9525">
            <a:solidFill>
              <a:srgbClr val="12808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663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8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681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Объективные измерения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04748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Строй, атака, T60, спектр, шум, резонансы — по записи, выполненной по протоколу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4718304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75320" y="1828800"/>
            <a:ext cx="3322015" cy="3877056"/>
          </a:xfrm>
          <a:prstGeom prst="roundRect">
            <a:avLst>
              <a:gd name="adj" fmla="val 2753"/>
            </a:avLst>
          </a:prstGeom>
          <a:solidFill>
            <a:srgbClr val="0B3C49"/>
          </a:solidFill>
          <a:ln/>
        </p:spPr>
      </p:sp>
      <p:sp>
        <p:nvSpPr>
          <p:cNvPr id="22" name="Shape 20"/>
          <p:cNvSpPr/>
          <p:nvPr/>
        </p:nvSpPr>
        <p:spPr>
          <a:xfrm>
            <a:off x="8549640" y="2103120"/>
            <a:ext cx="548640" cy="548640"/>
          </a:xfrm>
          <a:prstGeom prst="ellipse">
            <a:avLst/>
          </a:prstGeom>
          <a:solidFill>
            <a:srgbClr val="D99A1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24028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549640" y="2788920"/>
            <a:ext cx="2773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измерения отделены от оценки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549640" y="3474720"/>
            <a:ext cx="27733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Понятие «хорошее звучание» субъективно: оно зависит от жанра, исполнителя и традиции. Поэтому величины первого уровня фиксируются как бесспорные факты, а критерии второго и третьего уровней принимаются людьми и могут пересматриваться без повторного измерения инструментов.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58704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Нейросетевые модели нужны только для распознавания двух струн и для третьего уровня; первые два уровня работают без обучения на больших базах.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Профиль и индекс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сводит профиль к одному числу по весам критериев; веса и классы утверждает экспертный совет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Dombra Quality Index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каких величин профиля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783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6309360" cy="548640"/>
          </a:xfrm>
          <a:prstGeom prst="roundRect">
            <a:avLst>
              <a:gd name="adj" fmla="val 8333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2322576"/>
            <a:ext cx="201168" cy="20116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Интонация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ладов, стабильность строя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2276856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770632"/>
            <a:ext cx="6309360" cy="548640"/>
          </a:xfrm>
          <a:prstGeom prst="roundRect">
            <a:avLst>
              <a:gd name="adj" fmla="val 8333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" y="2944368"/>
            <a:ext cx="201168" cy="201168"/>
          </a:xfrm>
          <a:prstGeom prst="ellipse">
            <a:avLst/>
          </a:prstGeom>
          <a:solidFill>
            <a:srgbClr val="1280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27706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Сустейн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2770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затухания T60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898648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7706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392424"/>
            <a:ext cx="6309360" cy="548640"/>
          </a:xfrm>
          <a:prstGeom prst="roundRect">
            <a:avLst>
              <a:gd name="adj" fmla="val 8333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3566160"/>
            <a:ext cx="201168" cy="201168"/>
          </a:xfrm>
          <a:prstGeom prst="ellipse">
            <a:avLst/>
          </a:prstGeom>
          <a:solidFill>
            <a:srgbClr val="D99A1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33924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Тембр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3392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гармоник, спектральный баланс, резонансы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520440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3924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4014216"/>
            <a:ext cx="6309360" cy="548640"/>
          </a:xfrm>
          <a:prstGeom prst="roundRect">
            <a:avLst>
              <a:gd name="adj" fmla="val 8333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" y="4187952"/>
            <a:ext cx="201168" cy="201168"/>
          </a:xfrm>
          <a:prstGeom prst="ellipse">
            <a:avLst/>
          </a:prstGeom>
          <a:solidFill>
            <a:srgbClr val="8A5E0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" y="40142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Чистота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40142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гармоники/шум, стабильность высоты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4142232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40142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" y="4636008"/>
            <a:ext cx="6309360" cy="548640"/>
          </a:xfrm>
          <a:prstGeom prst="roundRect">
            <a:avLst>
              <a:gd name="adj" fmla="val 8333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4809744"/>
            <a:ext cx="201168" cy="201168"/>
          </a:xfrm>
          <a:prstGeom prst="ellipse">
            <a:avLst/>
          </a:prstGeom>
          <a:solidFill>
            <a:srgbClr val="5F707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4636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и динамика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2743200" y="4636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равенство струн, диапазон громкости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532120" y="4764024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46360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4360" y="5367528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E6F2F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54589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DQI = Σ wᵢ · sᵢ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— вес критерия, sᵢ — оценка 0–100 по расстоянию измеренных величин до эталонного профиля. Пример: 0,3·92 + 0,2·85 + 0,25·78 + 0,15·88 + 0,1·90 = 86.</a:t>
            </a:r>
            <a:endParaRPr lang="en-US" sz="13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7315200" y="1645920"/>
          <a:ext cx="428213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Text 40"/>
          <p:cNvSpPr txBox="1"/>
          <p:nvPr/>
        </p:nvSpPr>
        <p:spPr>
          <a:xfrm>
            <a:off x="7315200" y="2702052"/>
            <a:ext cx="4282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DQI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0" y="2958084"/>
            <a:ext cx="428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4000" dirty="0"/>
          </a:p>
        </p:txBody>
      </p:sp>
      <p:sp>
        <p:nvSpPr>
          <p:cNvPr id="45" name="Text 42"/>
          <p:cNvSpPr txBox="1"/>
          <p:nvPr/>
        </p:nvSpPr>
        <p:spPr>
          <a:xfrm>
            <a:off x="7315200" y="3598164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7315200" y="4937760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качества (пример)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302856" y="525780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E5F4EC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440016" y="5257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49" name="Text 46"/>
          <p:cNvSpPr txBox="1"/>
          <p:nvPr/>
        </p:nvSpPr>
        <p:spPr>
          <a:xfrm>
            <a:off x="7869784" y="52578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8793328" y="525780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E6F2F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930488" y="5257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52" name="Text 49"/>
          <p:cNvSpPr txBox="1"/>
          <p:nvPr/>
        </p:nvSpPr>
        <p:spPr>
          <a:xfrm>
            <a:off x="9360256" y="52578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10283800" y="525780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BF1DA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0420960" y="5257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E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55" name="Text 52"/>
          <p:cNvSpPr txBox="1"/>
          <p:nvPr/>
        </p:nvSpPr>
        <p:spPr>
          <a:xfrm>
            <a:off x="10850728" y="52578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7315200" y="5916168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инструмента с одинаковым индексом могут звучать по-разному, поэтому к индексу всегда прилагается профиль.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работает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вычисляет все величины первого уровня и проверен на сигналах с заранее известными параметрами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Dombra Quality Index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613584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224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автоматических тестов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824" y="1737360"/>
            <a:ext cx="2613584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424" y="1828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±3 цента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2395728"/>
            <a:ext cx="224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высоты тона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7288" y="1737360"/>
            <a:ext cx="2613584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1828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±6 %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395728"/>
            <a:ext cx="224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времени затухания T60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83751" y="1737360"/>
            <a:ext cx="2613584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2351" y="1828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±1,5 дБ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212351" y="2395728"/>
            <a:ext cx="224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уровней гармоник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6812280" cy="3017520"/>
          </a:xfrm>
          <a:prstGeom prst="roundRect">
            <a:avLst>
              <a:gd name="adj" fmla="val 2424"/>
            </a:avLst>
          </a:prstGeom>
          <a:solidFill>
            <a:srgbClr val="1026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154680"/>
            <a:ext cx="6355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dombra_notes.session recordings/2026-09-18_DOM001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Инструмент DOM001: нот распознано 67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Струна D (открытая D3): ладов 19, по порядку 38/38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отклонение по ладам, центы: 0:-7 1:-3 2:+1 3:+5 4:+9 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тембр: атака 2.8 мс, T60 7.8 с, гармоники/шум 38.3 дБ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гармоники 1–10, дБ: +0 -8 -13 -17 -20 -22 -24 -26 -28 -29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Струна G (открытая G3): ладов 19, по порядку 19/19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затухание: T60 13.4 с, спад к концу записи 35.7 дБ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Баланс струн D/G: уровень 2.7 дБ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Шум помещения: -60.4 дБ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Резонансы корпуса (ударов 5): 180 Гц, 319 Гц (-6 дБ), 560 Гц (-10 дБ)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089904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программы по синтетической сессии записи (демонстрация)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26680" y="3017520"/>
            <a:ext cx="3870655" cy="3017520"/>
          </a:xfrm>
          <a:prstGeom prst="roundRect">
            <a:avLst>
              <a:gd name="adj" fmla="val 2424"/>
            </a:avLst>
          </a:prstGeom>
          <a:solidFill>
            <a:srgbClr val="F5F9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01000" y="3182112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прототипа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01000" y="3666744"/>
            <a:ext cx="310896" cy="310896"/>
          </a:xfrm>
          <a:prstGeom prst="ellipse">
            <a:avLst/>
          </a:prstGeom>
          <a:solidFill>
            <a:srgbClr val="1E7B4A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8724" y="3744468"/>
            <a:ext cx="155448" cy="15544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439912" y="3639312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нот: звук → нота, MIDI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01000" y="4123944"/>
            <a:ext cx="310896" cy="310896"/>
          </a:xfrm>
          <a:prstGeom prst="ellipse">
            <a:avLst/>
          </a:prstGeom>
          <a:solidFill>
            <a:srgbClr val="1E7B4A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724" y="4201668"/>
            <a:ext cx="155448" cy="15544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439912" y="4096512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Акустический профиль каждой ноты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001000" y="4581144"/>
            <a:ext cx="310896" cy="310896"/>
          </a:xfrm>
          <a:prstGeom prst="ellipse">
            <a:avLst/>
          </a:prstGeom>
          <a:solidFill>
            <a:srgbClr val="1E7B4A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4658868"/>
            <a:ext cx="155448" cy="1554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439912" y="4553712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сессии записи: таблица и сводка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001000" y="5038344"/>
            <a:ext cx="310896" cy="310896"/>
          </a:xfrm>
          <a:prstGeom prst="ellipse">
            <a:avLst/>
          </a:prstGeom>
          <a:solidFill>
            <a:srgbClr val="1E7B4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4" y="5116068"/>
            <a:ext cx="155448" cy="15544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439912" y="5010912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для быстрой проверки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001000" y="5495544"/>
            <a:ext cx="310896" cy="310896"/>
          </a:xfrm>
          <a:prstGeom prst="ellipse">
            <a:avLst/>
          </a:prstGeom>
          <a:solidFill>
            <a:srgbClr val="1E7B4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4" y="5573268"/>
            <a:ext cx="155448" cy="15544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439912" y="5468112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записи для лаборатории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и необходимые решения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пилотной записи одного инструмента до индекса в паспорте реестра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492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9751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Пилотная запись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286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инструмент по протоколу; настройка порогов под живой звук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871216"/>
            <a:ext cx="6492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871216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– ноябрь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30175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и эталон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инструментов разных мастеров; эталонные профили; экспертный совет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913632"/>
            <a:ext cx="6492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13632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Декабрь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40599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DQI версии 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3708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и классы утверждены; индекс в паспорте реестра и по QR-коду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956048"/>
            <a:ext cx="6492240" cy="896112"/>
          </a:xfrm>
          <a:prstGeom prst="roundRect">
            <a:avLst>
              <a:gd name="adj" fmla="val 8163"/>
            </a:avLst>
          </a:prstGeom>
          <a:solidFill>
            <a:srgbClr val="124C5C"/>
          </a:solidFill>
          <a:ln w="9525">
            <a:solidFill>
              <a:srgbClr val="1280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956048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1023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413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двух струн; расширение базы; модели для третьего уровня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1828800"/>
            <a:ext cx="4144975" cy="4023360"/>
          </a:xfrm>
          <a:prstGeom prst="roundRect">
            <a:avLst>
              <a:gd name="adj" fmla="val 2273"/>
            </a:avLst>
          </a:prstGeom>
          <a:solidFill>
            <a:srgbClr val="D99A1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6680" y="2084832"/>
            <a:ext cx="548640" cy="548640"/>
          </a:xfrm>
          <a:prstGeom prst="ellipse">
            <a:avLst/>
          </a:prstGeom>
          <a:solidFill>
            <a:srgbClr val="0B3C49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2199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412480" y="2084832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Требуется решение руководства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772400" y="2944368"/>
            <a:ext cx="146304" cy="146304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092440" y="2834640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экспертного совета: мастера, исполнители, музыковеды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772400" y="3694176"/>
            <a:ext cx="146304" cy="146304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92440" y="3584448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установка: микрофон, стойка, тихое помещение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772400" y="4443984"/>
            <a:ext cx="146304" cy="146304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092440" y="4334256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базы: десять домбр разных мастеров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772400" y="5193792"/>
            <a:ext cx="146304" cy="146304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092440" y="5084064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Утверждение критериев, весов и классов индекса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14476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понятие «хорошее звучание» субъективно; тембр зависит от условий записи; объём базы на старте невелик, поэтому веса индекса будут уточняться.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Dombra Quality Index</dc:title>
  <dc:subject>Акустический паспорт домбры и индекс качества звучания</dc:subject>
  <dc:creator>PptxGenJS</dc:creator>
  <cp:lastModifiedBy>PptxGenJS</cp:lastModifiedBy>
  <cp:revision>1</cp:revision>
  <dcterms:created xsi:type="dcterms:W3CDTF">2026-09-18T09:25:23Z</dcterms:created>
  <dcterms:modified xsi:type="dcterms:W3CDTF">2026-09-18T09:25:23Z</dcterms:modified>
</cp:coreProperties>
</file>